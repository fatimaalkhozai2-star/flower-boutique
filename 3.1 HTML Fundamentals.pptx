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</p:sldIdLst>
  <p:sldSz cx="18288000" cy="10287000"/>
  <p:notesSz cx="6858000" cy="9144000"/>
  <p:embeddedFontLst>
    <p:embeddedFont>
      <p:font typeface="Tenor Sans" charset="1" panose="02000000000000000000"/>
      <p:regular r:id="rId13"/>
    </p:embeddedFont>
    <p:embeddedFont>
      <p:font typeface="Clear Sans Medium" charset="1" panose="020B0603030202020304"/>
      <p:regular r:id="rId14"/>
    </p:embeddedFont>
    <p:embeddedFont>
      <p:font typeface="Clear Sans" charset="1" panose="020B0503030202020304"/>
      <p:regular r:id="rId15"/>
    </p:embeddedFont>
    <p:embeddedFont>
      <p:font typeface="Clear Sans Bold" charset="1" panose="020B0803030202020304"/>
      <p:regular r:id="rId16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fonts/font13.fntdata" Type="http://schemas.openxmlformats.org/officeDocument/2006/relationships/font"/><Relationship Id="rId14" Target="fonts/font14.fntdata" Type="http://schemas.openxmlformats.org/officeDocument/2006/relationships/font"/><Relationship Id="rId15" Target="fonts/font15.fntdata" Type="http://schemas.openxmlformats.org/officeDocument/2006/relationships/font"/><Relationship Id="rId16" Target="fonts/font16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3.sv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3.sv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jpe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3.svg" Type="http://schemas.openxmlformats.org/officeDocument/2006/relationships/image"/><Relationship Id="rId4" Target="../media/image5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png" Type="http://schemas.openxmlformats.org/officeDocument/2006/relationships/image"/><Relationship Id="rId3" Target="../media/image8.svg" Type="http://schemas.openxmlformats.org/officeDocument/2006/relationships/image"/><Relationship Id="rId4" Target="../media/image9.png" Type="http://schemas.openxmlformats.org/officeDocument/2006/relationships/image"/><Relationship Id="rId5" Target="../media/image10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666750" y="4229113"/>
            <a:ext cx="9763125" cy="3838439"/>
            <a:chOff x="0" y="0"/>
            <a:chExt cx="13017500" cy="5117919"/>
          </a:xfrm>
        </p:grpSpPr>
        <p:sp>
          <p:nvSpPr>
            <p:cNvPr name="TextBox 3" id="3"/>
            <p:cNvSpPr txBox="true"/>
            <p:nvPr/>
          </p:nvSpPr>
          <p:spPr>
            <a:xfrm rot="0">
              <a:off x="0" y="190500"/>
              <a:ext cx="13017500" cy="37211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10500"/>
                </a:lnSpc>
              </a:pPr>
              <a:r>
                <a:rPr lang="en-US" sz="10500" spc="-210">
                  <a:solidFill>
                    <a:srgbClr val="2F4F4F"/>
                  </a:solidFill>
                  <a:latin typeface="Tenor Sans"/>
                  <a:ea typeface="Tenor Sans"/>
                  <a:cs typeface="Tenor Sans"/>
                  <a:sym typeface="Tenor Sans"/>
                </a:rPr>
                <a:t>HTML Fundamentals</a:t>
              </a:r>
            </a:p>
          </p:txBody>
        </p:sp>
        <p:sp>
          <p:nvSpPr>
            <p:cNvPr name="TextBox 4" id="4"/>
            <p:cNvSpPr txBox="true"/>
            <p:nvPr/>
          </p:nvSpPr>
          <p:spPr>
            <a:xfrm rot="0">
              <a:off x="0" y="4421644"/>
              <a:ext cx="13017500" cy="69627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4480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2172950" y="0"/>
            <a:ext cx="6115050" cy="10287000"/>
            <a:chOff x="0" y="0"/>
            <a:chExt cx="947381" cy="1593725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947381" cy="1593725"/>
            </a:xfrm>
            <a:custGeom>
              <a:avLst/>
              <a:gdLst/>
              <a:ahLst/>
              <a:cxnLst/>
              <a:rect r="r" b="b" t="t" l="l"/>
              <a:pathLst>
                <a:path h="1593725" w="947381">
                  <a:moveTo>
                    <a:pt x="0" y="0"/>
                  </a:moveTo>
                  <a:lnTo>
                    <a:pt x="947381" y="0"/>
                  </a:lnTo>
                  <a:lnTo>
                    <a:pt x="947381" y="1593725"/>
                  </a:lnTo>
                  <a:lnTo>
                    <a:pt x="0" y="1593725"/>
                  </a:lnTo>
                  <a:close/>
                </a:path>
              </a:pathLst>
            </a:custGeom>
            <a:blipFill>
              <a:blip r:embed="rId2"/>
              <a:stretch>
                <a:fillRect l="0" t="-58" r="0" b="-58"/>
              </a:stretch>
            </a:blipFill>
          </p:spPr>
        </p:sp>
      </p:grpSp>
      <p:sp>
        <p:nvSpPr>
          <p:cNvPr name="Freeform 7" id="7"/>
          <p:cNvSpPr/>
          <p:nvPr/>
        </p:nvSpPr>
        <p:spPr>
          <a:xfrm flipH="false" flipV="false" rot="0">
            <a:off x="8774635" y="7396104"/>
            <a:ext cx="6274865" cy="4114800"/>
          </a:xfrm>
          <a:custGeom>
            <a:avLst/>
            <a:gdLst/>
            <a:ahLst/>
            <a:cxnLst/>
            <a:rect r="r" b="b" t="t" l="l"/>
            <a:pathLst>
              <a:path h="4114800" w="6274865">
                <a:moveTo>
                  <a:pt x="0" y="0"/>
                </a:moveTo>
                <a:lnTo>
                  <a:pt x="6274865" y="0"/>
                </a:lnTo>
                <a:lnTo>
                  <a:pt x="6274865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666750" y="1562100"/>
            <a:ext cx="9763125" cy="4630887"/>
            <a:chOff x="0" y="0"/>
            <a:chExt cx="13017500" cy="6174516"/>
          </a:xfrm>
        </p:grpSpPr>
        <p:sp>
          <p:nvSpPr>
            <p:cNvPr name="TextBox 3" id="3"/>
            <p:cNvSpPr txBox="true"/>
            <p:nvPr/>
          </p:nvSpPr>
          <p:spPr>
            <a:xfrm rot="0">
              <a:off x="0" y="0"/>
              <a:ext cx="13017500" cy="28194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8399"/>
                </a:lnSpc>
              </a:pPr>
              <a:r>
                <a:rPr lang="en-US" sz="6999" spc="-139">
                  <a:solidFill>
                    <a:srgbClr val="2F4F4F"/>
                  </a:solidFill>
                  <a:latin typeface="Tenor Sans"/>
                  <a:ea typeface="Tenor Sans"/>
                  <a:cs typeface="Tenor Sans"/>
                  <a:sym typeface="Tenor Sans"/>
                </a:rPr>
                <a:t>Understanding HTML Fundamentals</a:t>
              </a:r>
            </a:p>
          </p:txBody>
        </p:sp>
        <p:sp>
          <p:nvSpPr>
            <p:cNvPr name="TextBox 4" id="4"/>
            <p:cNvSpPr txBox="true"/>
            <p:nvPr/>
          </p:nvSpPr>
          <p:spPr>
            <a:xfrm rot="0">
              <a:off x="0" y="3533739"/>
              <a:ext cx="13017500" cy="53003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360"/>
                </a:lnSpc>
                <a:spcBef>
                  <a:spcPct val="0"/>
                </a:spcBef>
              </a:pPr>
              <a:r>
                <a:rPr lang="en-US" b="true" sz="2400">
                  <a:solidFill>
                    <a:srgbClr val="2F4F4F"/>
                  </a:solidFill>
                  <a:latin typeface="Clear Sans Medium"/>
                  <a:ea typeface="Clear Sans Medium"/>
                  <a:cs typeface="Clear Sans Medium"/>
                  <a:sym typeface="Clear Sans Medium"/>
                </a:rPr>
                <a:t>THE BACKBONE OF WEB PAGES</a:t>
              </a:r>
            </a:p>
          </p:txBody>
        </p:sp>
        <p:sp>
          <p:nvSpPr>
            <p:cNvPr name="TextBox 5" id="5"/>
            <p:cNvSpPr txBox="true"/>
            <p:nvPr/>
          </p:nvSpPr>
          <p:spPr>
            <a:xfrm rot="0">
              <a:off x="0" y="4727522"/>
              <a:ext cx="13017500" cy="144699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939"/>
                </a:lnSpc>
                <a:spcBef>
                  <a:spcPct val="0"/>
                </a:spcBef>
              </a:pPr>
              <a:r>
                <a:rPr lang="en-US" sz="2099">
                  <a:solidFill>
                    <a:srgbClr val="2F4F4F"/>
                  </a:solidFill>
                  <a:latin typeface="Clear Sans"/>
                  <a:ea typeface="Clear Sans"/>
                  <a:cs typeface="Clear Sans"/>
                  <a:sym typeface="Clear Sans"/>
                </a:rPr>
                <a:t>HTML, or HyperText Markup Language, is the standard language for creating web pages. It defines the structure and content, acting as the </a:t>
              </a:r>
              <a:r>
                <a:rPr lang="en-US" b="true" sz="2099">
                  <a:solidFill>
                    <a:srgbClr val="2F4F4F"/>
                  </a:solidFill>
                  <a:latin typeface="Clear Sans Bold"/>
                  <a:ea typeface="Clear Sans Bold"/>
                  <a:cs typeface="Clear Sans Bold"/>
                  <a:sym typeface="Clear Sans Bold"/>
                </a:rPr>
                <a:t>skeleton</a:t>
              </a:r>
              <a:r>
                <a:rPr lang="en-US" sz="2099">
                  <a:solidFill>
                    <a:srgbClr val="2F4F4F"/>
                  </a:solidFill>
                  <a:latin typeface="Clear Sans"/>
                  <a:ea typeface="Clear Sans"/>
                  <a:cs typeface="Clear Sans"/>
                  <a:sym typeface="Clear Sans"/>
                </a:rPr>
                <a:t> of a website. Through HTML, developers can structure text, links, and images effectively.</a:t>
              </a:r>
            </a:p>
          </p:txBody>
        </p:sp>
      </p:grpSp>
      <p:sp>
        <p:nvSpPr>
          <p:cNvPr name="Freeform 6" id="6"/>
          <p:cNvSpPr/>
          <p:nvPr/>
        </p:nvSpPr>
        <p:spPr>
          <a:xfrm flipH="false" flipV="false" rot="0">
            <a:off x="15150568" y="7200900"/>
            <a:ext cx="6274865" cy="4114800"/>
          </a:xfrm>
          <a:custGeom>
            <a:avLst/>
            <a:gdLst/>
            <a:ahLst/>
            <a:cxnLst/>
            <a:rect r="r" b="b" t="t" l="l"/>
            <a:pathLst>
              <a:path h="4114800" w="6274865">
                <a:moveTo>
                  <a:pt x="0" y="0"/>
                </a:moveTo>
                <a:lnTo>
                  <a:pt x="6274864" y="0"/>
                </a:lnTo>
                <a:lnTo>
                  <a:pt x="6274864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TextBox 7" id="7"/>
          <p:cNvSpPr txBox="true"/>
          <p:nvPr/>
        </p:nvSpPr>
        <p:spPr>
          <a:xfrm rot="0">
            <a:off x="666750" y="7153275"/>
            <a:ext cx="5639991" cy="4057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59"/>
              </a:lnSpc>
              <a:spcBef>
                <a:spcPct val="0"/>
              </a:spcBef>
            </a:pPr>
            <a:r>
              <a:rPr lang="en-US" b="true" sz="2400">
                <a:solidFill>
                  <a:srgbClr val="2F4F4F"/>
                </a:solidFill>
                <a:latin typeface="Clear Sans Medium"/>
                <a:ea typeface="Clear Sans Medium"/>
                <a:cs typeface="Clear Sans Medium"/>
                <a:sym typeface="Clear Sans Medium"/>
              </a:rPr>
              <a:t>HYPERTEXT MARKUP LANGUAGE (HTML)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666750" y="1562086"/>
            <a:ext cx="8324850" cy="31718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8399"/>
              </a:lnSpc>
            </a:pPr>
            <a:r>
              <a:rPr lang="en-US" sz="6999" spc="-139">
                <a:solidFill>
                  <a:srgbClr val="2F4F4F"/>
                </a:solidFill>
                <a:latin typeface="Tenor Sans"/>
                <a:ea typeface="Tenor Sans"/>
                <a:cs typeface="Tenor Sans"/>
                <a:sym typeface="Tenor Sans"/>
              </a:rPr>
              <a:t>Understanding Basic HTML Structure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10734675" y="1562086"/>
            <a:ext cx="6886575" cy="1577255"/>
            <a:chOff x="0" y="0"/>
            <a:chExt cx="9182100" cy="2103007"/>
          </a:xfrm>
        </p:grpSpPr>
        <p:sp>
          <p:nvSpPr>
            <p:cNvPr name="TextBox 4" id="4"/>
            <p:cNvSpPr txBox="true"/>
            <p:nvPr/>
          </p:nvSpPr>
          <p:spPr>
            <a:xfrm rot="0">
              <a:off x="0" y="-47625"/>
              <a:ext cx="9182100" cy="53003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360"/>
                </a:lnSpc>
                <a:spcBef>
                  <a:spcPct val="0"/>
                </a:spcBef>
              </a:pPr>
              <a:r>
                <a:rPr lang="en-US" b="true" sz="2400">
                  <a:solidFill>
                    <a:srgbClr val="2F4F4F"/>
                  </a:solidFill>
                  <a:latin typeface="Clear Sans Medium"/>
                  <a:ea typeface="Clear Sans Medium"/>
                  <a:cs typeface="Clear Sans Medium"/>
                  <a:sym typeface="Clear Sans Medium"/>
                </a:rPr>
                <a:t>HTML: ROOT ELEMENT</a:t>
              </a:r>
            </a:p>
          </p:txBody>
        </p:sp>
        <p:sp>
          <p:nvSpPr>
            <p:cNvPr name="TextBox 5" id="5"/>
            <p:cNvSpPr txBox="true"/>
            <p:nvPr/>
          </p:nvSpPr>
          <p:spPr>
            <a:xfrm rot="0">
              <a:off x="0" y="1146176"/>
              <a:ext cx="9182100" cy="95683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939"/>
                </a:lnSpc>
                <a:spcBef>
                  <a:spcPct val="0"/>
                </a:spcBef>
              </a:pPr>
              <a:r>
                <a:rPr lang="en-US" sz="2099">
                  <a:solidFill>
                    <a:srgbClr val="2F4F4F"/>
                  </a:solidFill>
                  <a:latin typeface="Clear Sans"/>
                  <a:ea typeface="Clear Sans"/>
                  <a:cs typeface="Clear Sans"/>
                  <a:sym typeface="Clear Sans"/>
                </a:rPr>
                <a:t>The </a:t>
              </a:r>
              <a:r>
                <a:rPr lang="en-US" b="true" sz="2099">
                  <a:solidFill>
                    <a:srgbClr val="2F4F4F"/>
                  </a:solidFill>
                  <a:latin typeface="Clear Sans Bold"/>
                  <a:ea typeface="Clear Sans Bold"/>
                  <a:cs typeface="Clear Sans Bold"/>
                  <a:sym typeface="Clear Sans Bold"/>
                </a:rPr>
                <a:t>html tag</a:t>
              </a:r>
              <a:r>
                <a:rPr lang="en-US" sz="2099">
                  <a:solidFill>
                    <a:srgbClr val="2F4F4F"/>
                  </a:solidFill>
                  <a:latin typeface="Clear Sans"/>
                  <a:ea typeface="Clear Sans"/>
                  <a:cs typeface="Clear Sans"/>
                  <a:sym typeface="Clear Sans"/>
                </a:rPr>
                <a:t> is the foundation of any web page, indicating to the browser that this is an HTML document.</a:t>
              </a: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10734675" y="4248150"/>
            <a:ext cx="6886575" cy="1944732"/>
            <a:chOff x="0" y="0"/>
            <a:chExt cx="9182100" cy="2592977"/>
          </a:xfrm>
        </p:grpSpPr>
        <p:sp>
          <p:nvSpPr>
            <p:cNvPr name="TextBox 7" id="7"/>
            <p:cNvSpPr txBox="true"/>
            <p:nvPr/>
          </p:nvSpPr>
          <p:spPr>
            <a:xfrm rot="0">
              <a:off x="0" y="-47625"/>
              <a:ext cx="9182100" cy="53003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360"/>
                </a:lnSpc>
                <a:spcBef>
                  <a:spcPct val="0"/>
                </a:spcBef>
              </a:pPr>
              <a:r>
                <a:rPr lang="en-US" b="true" sz="2400">
                  <a:solidFill>
                    <a:srgbClr val="2F4F4F"/>
                  </a:solidFill>
                  <a:latin typeface="Clear Sans Medium"/>
                  <a:ea typeface="Clear Sans Medium"/>
                  <a:cs typeface="Clear Sans Medium"/>
                  <a:sym typeface="Clear Sans Medium"/>
                </a:rPr>
                <a:t>HEAD: METADATA CONTAINER</a:t>
              </a:r>
            </a:p>
          </p:txBody>
        </p:sp>
        <p:sp>
          <p:nvSpPr>
            <p:cNvPr name="TextBox 8" id="8"/>
            <p:cNvSpPr txBox="true"/>
            <p:nvPr/>
          </p:nvSpPr>
          <p:spPr>
            <a:xfrm rot="0">
              <a:off x="0" y="1145982"/>
              <a:ext cx="9182100" cy="144699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939"/>
                </a:lnSpc>
                <a:spcBef>
                  <a:spcPct val="0"/>
                </a:spcBef>
              </a:pPr>
              <a:r>
                <a:rPr lang="en-US" sz="2099">
                  <a:solidFill>
                    <a:srgbClr val="2F4F4F"/>
                  </a:solidFill>
                  <a:latin typeface="Clear Sans"/>
                  <a:ea typeface="Clear Sans"/>
                  <a:cs typeface="Clear Sans"/>
                  <a:sym typeface="Clear Sans"/>
                </a:rPr>
                <a:t>The </a:t>
              </a:r>
              <a:r>
                <a:rPr lang="en-US" b="true" sz="2099">
                  <a:solidFill>
                    <a:srgbClr val="2F4F4F"/>
                  </a:solidFill>
                  <a:latin typeface="Clear Sans Bold"/>
                  <a:ea typeface="Clear Sans Bold"/>
                  <a:cs typeface="Clear Sans Bold"/>
                  <a:sym typeface="Clear Sans Bold"/>
                </a:rPr>
                <a:t>head tag</a:t>
              </a:r>
              <a:r>
                <a:rPr lang="en-US" sz="2099">
                  <a:solidFill>
                    <a:srgbClr val="2F4F4F"/>
                  </a:solidFill>
                  <a:latin typeface="Clear Sans"/>
                  <a:ea typeface="Clear Sans"/>
                  <a:cs typeface="Clear Sans"/>
                  <a:sym typeface="Clear Sans"/>
                </a:rPr>
                <a:t> contains important information about the web page, such as the title, character set, and links to stylesheets.</a:t>
              </a: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10734675" y="6934200"/>
            <a:ext cx="6886575" cy="1944864"/>
            <a:chOff x="0" y="0"/>
            <a:chExt cx="9182100" cy="2593152"/>
          </a:xfrm>
        </p:grpSpPr>
        <p:sp>
          <p:nvSpPr>
            <p:cNvPr name="TextBox 10" id="10"/>
            <p:cNvSpPr txBox="true"/>
            <p:nvPr/>
          </p:nvSpPr>
          <p:spPr>
            <a:xfrm rot="0">
              <a:off x="0" y="-47625"/>
              <a:ext cx="9182100" cy="53003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360"/>
                </a:lnSpc>
                <a:spcBef>
                  <a:spcPct val="0"/>
                </a:spcBef>
              </a:pPr>
              <a:r>
                <a:rPr lang="en-US" b="true" sz="2400">
                  <a:solidFill>
                    <a:srgbClr val="2F4F4F"/>
                  </a:solidFill>
                  <a:latin typeface="Clear Sans Medium"/>
                  <a:ea typeface="Clear Sans Medium"/>
                  <a:cs typeface="Clear Sans Medium"/>
                  <a:sym typeface="Clear Sans Medium"/>
                </a:rPr>
                <a:t>BODY: VISIBLE CONTENT</a:t>
              </a:r>
            </a:p>
          </p:txBody>
        </p:sp>
        <p:sp>
          <p:nvSpPr>
            <p:cNvPr name="TextBox 11" id="11"/>
            <p:cNvSpPr txBox="true"/>
            <p:nvPr/>
          </p:nvSpPr>
          <p:spPr>
            <a:xfrm rot="0">
              <a:off x="0" y="1146158"/>
              <a:ext cx="9182100" cy="144699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939"/>
                </a:lnSpc>
                <a:spcBef>
                  <a:spcPct val="0"/>
                </a:spcBef>
              </a:pPr>
              <a:r>
                <a:rPr lang="en-US" sz="2099">
                  <a:solidFill>
                    <a:srgbClr val="2F4F4F"/>
                  </a:solidFill>
                  <a:latin typeface="Clear Sans"/>
                  <a:ea typeface="Clear Sans"/>
                  <a:cs typeface="Clear Sans"/>
                  <a:sym typeface="Clear Sans"/>
                </a:rPr>
                <a:t>The </a:t>
              </a:r>
              <a:r>
                <a:rPr lang="en-US" b="true" sz="2099">
                  <a:solidFill>
                    <a:srgbClr val="2F4F4F"/>
                  </a:solidFill>
                  <a:latin typeface="Clear Sans Bold"/>
                  <a:ea typeface="Clear Sans Bold"/>
                  <a:cs typeface="Clear Sans Bold"/>
                  <a:sym typeface="Clear Sans Bold"/>
                </a:rPr>
                <a:t>body tag</a:t>
              </a:r>
              <a:r>
                <a:rPr lang="en-US" sz="2099">
                  <a:solidFill>
                    <a:srgbClr val="2F4F4F"/>
                  </a:solidFill>
                  <a:latin typeface="Clear Sans"/>
                  <a:ea typeface="Clear Sans"/>
                  <a:cs typeface="Clear Sans"/>
                  <a:sym typeface="Clear Sans"/>
                </a:rPr>
                <a:t> holds all the content that users see, including text, images, and other media displayed on the web page.</a:t>
              </a:r>
            </a:p>
          </p:txBody>
        </p:sp>
      </p:grpSp>
      <p:sp>
        <p:nvSpPr>
          <p:cNvPr name="Freeform 12" id="12"/>
          <p:cNvSpPr/>
          <p:nvPr/>
        </p:nvSpPr>
        <p:spPr>
          <a:xfrm flipH="false" flipV="false" rot="0">
            <a:off x="-3137432" y="7200900"/>
            <a:ext cx="6274865" cy="4114800"/>
          </a:xfrm>
          <a:custGeom>
            <a:avLst/>
            <a:gdLst/>
            <a:ahLst/>
            <a:cxnLst/>
            <a:rect r="r" b="b" t="t" l="l"/>
            <a:pathLst>
              <a:path h="4114800" w="6274865">
                <a:moveTo>
                  <a:pt x="0" y="0"/>
                </a:moveTo>
                <a:lnTo>
                  <a:pt x="6274864" y="0"/>
                </a:lnTo>
                <a:lnTo>
                  <a:pt x="6274864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2172950" y="0"/>
            <a:ext cx="6115050" cy="10287000"/>
            <a:chOff x="0" y="0"/>
            <a:chExt cx="947381" cy="159372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947381" cy="1593725"/>
            </a:xfrm>
            <a:custGeom>
              <a:avLst/>
              <a:gdLst/>
              <a:ahLst/>
              <a:cxnLst/>
              <a:rect r="r" b="b" t="t" l="l"/>
              <a:pathLst>
                <a:path h="1593725" w="947381">
                  <a:moveTo>
                    <a:pt x="0" y="0"/>
                  </a:moveTo>
                  <a:lnTo>
                    <a:pt x="947381" y="0"/>
                  </a:lnTo>
                  <a:lnTo>
                    <a:pt x="947381" y="1593725"/>
                  </a:lnTo>
                  <a:lnTo>
                    <a:pt x="0" y="1593725"/>
                  </a:lnTo>
                  <a:close/>
                </a:path>
              </a:pathLst>
            </a:custGeom>
            <a:blipFill>
              <a:blip r:embed="rId2"/>
              <a:stretch>
                <a:fillRect l="0" t="-58" r="0" b="-58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666750" y="1562100"/>
            <a:ext cx="9763125" cy="4470458"/>
            <a:chOff x="0" y="0"/>
            <a:chExt cx="13017500" cy="5960611"/>
          </a:xfrm>
        </p:grpSpPr>
        <p:sp>
          <p:nvSpPr>
            <p:cNvPr name="TextBox 5" id="5"/>
            <p:cNvSpPr txBox="true"/>
            <p:nvPr/>
          </p:nvSpPr>
          <p:spPr>
            <a:xfrm rot="0">
              <a:off x="0" y="3319799"/>
              <a:ext cx="13017500" cy="52514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359"/>
                </a:lnSpc>
                <a:spcBef>
                  <a:spcPct val="0"/>
                </a:spcBef>
              </a:pPr>
              <a:r>
                <a:rPr lang="en-US" b="true" sz="2400">
                  <a:solidFill>
                    <a:srgbClr val="2F4F4F"/>
                  </a:solidFill>
                  <a:latin typeface="Clear Sans Bold"/>
                  <a:ea typeface="Clear Sans Bold"/>
                  <a:cs typeface="Clear Sans Bold"/>
                  <a:sym typeface="Clear Sans Bold"/>
                </a:rPr>
                <a:t>ORGANIZING YOUR WEB PAGE</a:t>
              </a:r>
            </a:p>
          </p:txBody>
        </p:sp>
        <p:sp>
          <p:nvSpPr>
            <p:cNvPr name="TextBox 6" id="6"/>
            <p:cNvSpPr txBox="true"/>
            <p:nvPr/>
          </p:nvSpPr>
          <p:spPr>
            <a:xfrm rot="0">
              <a:off x="0" y="4513617"/>
              <a:ext cx="13017500" cy="144699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939"/>
                </a:lnSpc>
                <a:spcBef>
                  <a:spcPct val="0"/>
                </a:spcBef>
              </a:pPr>
              <a:r>
                <a:rPr lang="en-US" sz="2099">
                  <a:solidFill>
                    <a:srgbClr val="2F4F4F"/>
                  </a:solidFill>
                  <a:latin typeface="Clear Sans"/>
                  <a:ea typeface="Clear Sans"/>
                  <a:cs typeface="Clear Sans"/>
                  <a:sym typeface="Clear Sans"/>
                </a:rPr>
                <a:t>HTML provides essential tags to structure content effectively, helping with organization and readability. Key tags include headings, paragraphs, links, and images.</a:t>
              </a:r>
            </a:p>
          </p:txBody>
        </p:sp>
        <p:sp>
          <p:nvSpPr>
            <p:cNvPr name="TextBox 7" id="7"/>
            <p:cNvSpPr txBox="true"/>
            <p:nvPr/>
          </p:nvSpPr>
          <p:spPr>
            <a:xfrm rot="0">
              <a:off x="0" y="0"/>
              <a:ext cx="13017500" cy="281586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8399"/>
                </a:lnSpc>
              </a:pPr>
              <a:r>
                <a:rPr lang="en-US" sz="6999" spc="-139">
                  <a:solidFill>
                    <a:srgbClr val="2F4F4F"/>
                  </a:solidFill>
                  <a:latin typeface="Tenor Sans"/>
                  <a:ea typeface="Tenor Sans"/>
                  <a:cs typeface="Tenor Sans"/>
                  <a:sym typeface="Tenor Sans"/>
                </a:rPr>
                <a:t>Fundamental HTML Tags for Web Content</a:t>
              </a:r>
            </a:p>
          </p:txBody>
        </p:sp>
      </p:grpSp>
      <p:sp>
        <p:nvSpPr>
          <p:cNvPr name="TextBox 8" id="8"/>
          <p:cNvSpPr txBox="true"/>
          <p:nvPr/>
        </p:nvSpPr>
        <p:spPr>
          <a:xfrm rot="0">
            <a:off x="666750" y="6349093"/>
            <a:ext cx="4159704" cy="37052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582922" indent="-291461" lvl="1">
              <a:lnSpc>
                <a:spcPts val="3239"/>
              </a:lnSpc>
              <a:buFont typeface="Arial"/>
              <a:buChar char="•"/>
            </a:pPr>
            <a:r>
              <a:rPr lang="en-US" sz="2699" spc="-53">
                <a:solidFill>
                  <a:srgbClr val="2F4F4F"/>
                </a:solidFill>
                <a:latin typeface="Tenor Sans"/>
                <a:ea typeface="Tenor Sans"/>
                <a:cs typeface="Tenor Sans"/>
                <a:sym typeface="Tenor Sans"/>
              </a:rPr>
              <a:t>Header Tag</a:t>
            </a:r>
          </a:p>
          <a:p>
            <a:pPr algn="just" marL="582922" indent="-291461" lvl="1">
              <a:lnSpc>
                <a:spcPts val="3239"/>
              </a:lnSpc>
              <a:buFont typeface="Arial"/>
              <a:buChar char="•"/>
            </a:pPr>
            <a:r>
              <a:rPr lang="en-US" sz="2699" spc="-53">
                <a:solidFill>
                  <a:srgbClr val="2F4F4F"/>
                </a:solidFill>
                <a:latin typeface="Tenor Sans"/>
                <a:ea typeface="Tenor Sans"/>
                <a:cs typeface="Tenor Sans"/>
                <a:sym typeface="Tenor Sans"/>
              </a:rPr>
              <a:t>Paragraph Tag</a:t>
            </a:r>
          </a:p>
          <a:p>
            <a:pPr algn="just" marL="582922" indent="-291461" lvl="1">
              <a:lnSpc>
                <a:spcPts val="3239"/>
              </a:lnSpc>
              <a:buFont typeface="Arial"/>
              <a:buChar char="•"/>
            </a:pPr>
            <a:r>
              <a:rPr lang="en-US" sz="2699" spc="-53">
                <a:solidFill>
                  <a:srgbClr val="2F4F4F"/>
                </a:solidFill>
                <a:latin typeface="Tenor Sans"/>
                <a:ea typeface="Tenor Sans"/>
                <a:cs typeface="Tenor Sans"/>
                <a:sym typeface="Tenor Sans"/>
              </a:rPr>
              <a:t>Button Tag</a:t>
            </a:r>
          </a:p>
          <a:p>
            <a:pPr algn="just" marL="582922" indent="-291461" lvl="1">
              <a:lnSpc>
                <a:spcPts val="3239"/>
              </a:lnSpc>
              <a:buFont typeface="Arial"/>
              <a:buChar char="•"/>
            </a:pPr>
            <a:r>
              <a:rPr lang="en-US" sz="2699" spc="-53">
                <a:solidFill>
                  <a:srgbClr val="2F4F4F"/>
                </a:solidFill>
                <a:latin typeface="Tenor Sans"/>
                <a:ea typeface="Tenor Sans"/>
                <a:cs typeface="Tenor Sans"/>
                <a:sym typeface="Tenor Sans"/>
              </a:rPr>
              <a:t>Input Tag</a:t>
            </a:r>
          </a:p>
          <a:p>
            <a:pPr algn="just" marL="582922" indent="-291461" lvl="1">
              <a:lnSpc>
                <a:spcPts val="3239"/>
              </a:lnSpc>
              <a:buFont typeface="Arial"/>
              <a:buChar char="•"/>
            </a:pPr>
            <a:r>
              <a:rPr lang="en-US" sz="2699" spc="-53">
                <a:solidFill>
                  <a:srgbClr val="2F4F4F"/>
                </a:solidFill>
                <a:latin typeface="Tenor Sans"/>
                <a:ea typeface="Tenor Sans"/>
                <a:cs typeface="Tenor Sans"/>
                <a:sym typeface="Tenor Sans"/>
              </a:rPr>
              <a:t>Ordered list Tag</a:t>
            </a:r>
          </a:p>
          <a:p>
            <a:pPr algn="just" marL="582922" indent="-291461" lvl="1">
              <a:lnSpc>
                <a:spcPts val="3239"/>
              </a:lnSpc>
              <a:buFont typeface="Arial"/>
              <a:buChar char="•"/>
            </a:pPr>
            <a:r>
              <a:rPr lang="en-US" sz="2699" spc="-53">
                <a:solidFill>
                  <a:srgbClr val="2F4F4F"/>
                </a:solidFill>
                <a:latin typeface="Tenor Sans"/>
                <a:ea typeface="Tenor Sans"/>
                <a:cs typeface="Tenor Sans"/>
                <a:sym typeface="Tenor Sans"/>
              </a:rPr>
              <a:t>Unordered list Tag</a:t>
            </a:r>
          </a:p>
          <a:p>
            <a:pPr algn="just" marL="582922" indent="-291461" lvl="1">
              <a:lnSpc>
                <a:spcPts val="3239"/>
              </a:lnSpc>
              <a:buFont typeface="Arial"/>
              <a:buChar char="•"/>
            </a:pPr>
            <a:r>
              <a:rPr lang="en-US" sz="2699" spc="-53">
                <a:solidFill>
                  <a:srgbClr val="2F4F4F"/>
                </a:solidFill>
                <a:latin typeface="Tenor Sans"/>
                <a:ea typeface="Tenor Sans"/>
                <a:cs typeface="Tenor Sans"/>
                <a:sym typeface="Tenor Sans"/>
              </a:rPr>
              <a:t>Dropdown list Tag</a:t>
            </a:r>
          </a:p>
          <a:p>
            <a:pPr algn="just" marL="582922" indent="-291461" lvl="1">
              <a:lnSpc>
                <a:spcPts val="3239"/>
              </a:lnSpc>
              <a:buFont typeface="Arial"/>
              <a:buChar char="•"/>
            </a:pPr>
            <a:r>
              <a:rPr lang="en-US" sz="2699" spc="-53">
                <a:solidFill>
                  <a:srgbClr val="2F4F4F"/>
                </a:solidFill>
                <a:latin typeface="Tenor Sans"/>
                <a:ea typeface="Tenor Sans"/>
                <a:cs typeface="Tenor Sans"/>
                <a:sym typeface="Tenor Sans"/>
              </a:rPr>
              <a:t>Div Tag</a:t>
            </a:r>
          </a:p>
          <a:p>
            <a:pPr algn="just" marL="582922" indent="-291461" lvl="1">
              <a:lnSpc>
                <a:spcPts val="3239"/>
              </a:lnSpc>
              <a:buFont typeface="Arial"/>
              <a:buChar char="•"/>
            </a:pPr>
            <a:r>
              <a:rPr lang="en-US" sz="2699" spc="-53">
                <a:solidFill>
                  <a:srgbClr val="2F4F4F"/>
                </a:solidFill>
                <a:latin typeface="Tenor Sans"/>
                <a:ea typeface="Tenor Sans"/>
                <a:cs typeface="Tenor Sans"/>
                <a:sym typeface="Tenor Sans"/>
              </a:rPr>
              <a:t>Script Tag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885825" y="1562100"/>
            <a:ext cx="16373475" cy="5683731"/>
            <a:chOff x="0" y="0"/>
            <a:chExt cx="21831300" cy="7578308"/>
          </a:xfrm>
        </p:grpSpPr>
        <p:sp>
          <p:nvSpPr>
            <p:cNvPr name="TextBox 3" id="3"/>
            <p:cNvSpPr txBox="true"/>
            <p:nvPr/>
          </p:nvSpPr>
          <p:spPr>
            <a:xfrm rot="0">
              <a:off x="0" y="3695635"/>
              <a:ext cx="21831300" cy="388267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320"/>
                </a:lnSpc>
              </a:pPr>
              <a:r>
                <a:rPr lang="en-US" b="true" sz="2371">
                  <a:solidFill>
                    <a:srgbClr val="2F4F4F"/>
                  </a:solidFill>
                  <a:latin typeface="Clear Sans Bold"/>
                  <a:ea typeface="Clear Sans Bold"/>
                  <a:cs typeface="Clear Sans Bold"/>
                  <a:sym typeface="Clear Sans Bold"/>
                </a:rPr>
                <a:t>•</a:t>
              </a:r>
              <a:r>
                <a:rPr lang="en-US" b="true" sz="2371">
                  <a:solidFill>
                    <a:srgbClr val="2F4F4F"/>
                  </a:solidFill>
                  <a:latin typeface="Clear Sans Bold"/>
                  <a:ea typeface="Clear Sans Bold"/>
                  <a:cs typeface="Clear Sans Bold"/>
                  <a:sym typeface="Clear Sans Bold"/>
                </a:rPr>
                <a:t> Provide extra information</a:t>
              </a:r>
            </a:p>
            <a:p>
              <a:pPr algn="l" marL="0" indent="0" lvl="0">
                <a:lnSpc>
                  <a:spcPts val="3320"/>
                </a:lnSpc>
              </a:pPr>
              <a:r>
                <a:rPr lang="en-US" b="true" sz="2371">
                  <a:solidFill>
                    <a:srgbClr val="2F4F4F"/>
                  </a:solidFill>
                  <a:latin typeface="Clear Sans Bold"/>
                  <a:ea typeface="Clear Sans Bold"/>
                  <a:cs typeface="Clear Sans Bold"/>
                  <a:sym typeface="Clear Sans Bold"/>
                </a:rPr>
                <a:t> • Examples:</a:t>
              </a:r>
            </a:p>
            <a:p>
              <a:pPr algn="l" marL="0" indent="0" lvl="0">
                <a:lnSpc>
                  <a:spcPts val="3320"/>
                </a:lnSpc>
              </a:pPr>
              <a:r>
                <a:rPr lang="en-US" b="true" sz="2371">
                  <a:solidFill>
                    <a:srgbClr val="2F4F4F"/>
                  </a:solidFill>
                  <a:latin typeface="Clear Sans Bold"/>
                  <a:ea typeface="Clear Sans Bold"/>
                  <a:cs typeface="Clear Sans Bold"/>
                  <a:sym typeface="Clear Sans Bold"/>
                </a:rPr>
                <a:t> • href</a:t>
              </a:r>
            </a:p>
            <a:p>
              <a:pPr algn="l" marL="0" indent="0" lvl="0">
                <a:lnSpc>
                  <a:spcPts val="3320"/>
                </a:lnSpc>
              </a:pPr>
              <a:r>
                <a:rPr lang="en-US" b="true" sz="2371">
                  <a:solidFill>
                    <a:srgbClr val="2F4F4F"/>
                  </a:solidFill>
                  <a:latin typeface="Clear Sans Bold"/>
                  <a:ea typeface="Clear Sans Bold"/>
                  <a:cs typeface="Clear Sans Bold"/>
                  <a:sym typeface="Clear Sans Bold"/>
                </a:rPr>
                <a:t> • src</a:t>
              </a:r>
            </a:p>
            <a:p>
              <a:pPr algn="l" marL="0" indent="0" lvl="0">
                <a:lnSpc>
                  <a:spcPts val="3320"/>
                </a:lnSpc>
              </a:pPr>
              <a:r>
                <a:rPr lang="en-US" b="true" sz="2371">
                  <a:solidFill>
                    <a:srgbClr val="2F4F4F"/>
                  </a:solidFill>
                  <a:latin typeface="Clear Sans Bold"/>
                  <a:ea typeface="Clear Sans Bold"/>
                  <a:cs typeface="Clear Sans Bold"/>
                  <a:sym typeface="Clear Sans Bold"/>
                </a:rPr>
                <a:t> • alt</a:t>
              </a:r>
            </a:p>
            <a:p>
              <a:pPr algn="l" marL="0" indent="0" lvl="0">
                <a:lnSpc>
                  <a:spcPts val="3320"/>
                </a:lnSpc>
              </a:pPr>
              <a:r>
                <a:rPr lang="en-US" b="true" sz="2371">
                  <a:solidFill>
                    <a:srgbClr val="2F4F4F"/>
                  </a:solidFill>
                  <a:latin typeface="Clear Sans Bold"/>
                  <a:ea typeface="Clear Sans Bold"/>
                  <a:cs typeface="Clear Sans Bold"/>
                  <a:sym typeface="Clear Sans Bold"/>
                </a:rPr>
                <a:t> • id</a:t>
              </a:r>
            </a:p>
            <a:p>
              <a:pPr algn="l" marL="0" indent="0" lvl="0">
                <a:lnSpc>
                  <a:spcPts val="3320"/>
                </a:lnSpc>
              </a:pPr>
              <a:r>
                <a:rPr lang="en-US" b="true" sz="2371">
                  <a:solidFill>
                    <a:srgbClr val="2F4F4F"/>
                  </a:solidFill>
                  <a:latin typeface="Clear Sans Bold"/>
                  <a:ea typeface="Clear Sans Bold"/>
                  <a:cs typeface="Clear Sans Bold"/>
                  <a:sym typeface="Clear Sans Bold"/>
                </a:rPr>
                <a:t> • class</a:t>
              </a:r>
            </a:p>
          </p:txBody>
        </p:sp>
        <p:sp>
          <p:nvSpPr>
            <p:cNvPr name="TextBox 4" id="4"/>
            <p:cNvSpPr txBox="true"/>
            <p:nvPr/>
          </p:nvSpPr>
          <p:spPr>
            <a:xfrm rot="0">
              <a:off x="0" y="-9525"/>
              <a:ext cx="21831300" cy="160148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9486"/>
                </a:lnSpc>
              </a:pPr>
              <a:r>
                <a:rPr lang="en-US" sz="7905" spc="-158">
                  <a:solidFill>
                    <a:srgbClr val="2F4F4F"/>
                  </a:solidFill>
                  <a:latin typeface="Tenor Sans"/>
                  <a:ea typeface="Tenor Sans"/>
                  <a:cs typeface="Tenor Sans"/>
                  <a:sym typeface="Tenor Sans"/>
                </a:rPr>
                <a:t>HTML Attributes</a:t>
              </a: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-6723923">
            <a:off x="13666568" y="-2297777"/>
            <a:ext cx="6274865" cy="4114800"/>
          </a:xfrm>
          <a:custGeom>
            <a:avLst/>
            <a:gdLst/>
            <a:ahLst/>
            <a:cxnLst/>
            <a:rect r="r" b="b" t="t" l="l"/>
            <a:pathLst>
              <a:path h="4114800" w="6274865">
                <a:moveTo>
                  <a:pt x="0" y="0"/>
                </a:moveTo>
                <a:lnTo>
                  <a:pt x="6274865" y="0"/>
                </a:lnTo>
                <a:lnTo>
                  <a:pt x="6274865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6" id="6"/>
          <p:cNvSpPr/>
          <p:nvPr/>
        </p:nvSpPr>
        <p:spPr>
          <a:xfrm flipH="false" flipV="false" rot="0">
            <a:off x="7805057" y="3429000"/>
            <a:ext cx="10182045" cy="4884668"/>
          </a:xfrm>
          <a:custGeom>
            <a:avLst/>
            <a:gdLst/>
            <a:ahLst/>
            <a:cxnLst/>
            <a:rect r="r" b="b" t="t" l="l"/>
            <a:pathLst>
              <a:path h="4884668" w="10182045">
                <a:moveTo>
                  <a:pt x="0" y="0"/>
                </a:moveTo>
                <a:lnTo>
                  <a:pt x="10182045" y="0"/>
                </a:lnTo>
                <a:lnTo>
                  <a:pt x="10182045" y="4884668"/>
                </a:lnTo>
                <a:lnTo>
                  <a:pt x="0" y="488466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2176" t="-2389" r="0" b="0"/>
            </a:stretch>
          </a:blipFill>
        </p:spPr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2172950" y="0"/>
            <a:ext cx="6115050" cy="10287000"/>
            <a:chOff x="0" y="0"/>
            <a:chExt cx="947381" cy="159372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947381" cy="1593725"/>
            </a:xfrm>
            <a:custGeom>
              <a:avLst/>
              <a:gdLst/>
              <a:ahLst/>
              <a:cxnLst/>
              <a:rect r="r" b="b" t="t" l="l"/>
              <a:pathLst>
                <a:path h="1593725" w="947381">
                  <a:moveTo>
                    <a:pt x="0" y="0"/>
                  </a:moveTo>
                  <a:lnTo>
                    <a:pt x="947381" y="0"/>
                  </a:lnTo>
                  <a:lnTo>
                    <a:pt x="947381" y="1593725"/>
                  </a:lnTo>
                  <a:lnTo>
                    <a:pt x="0" y="1593725"/>
                  </a:lnTo>
                  <a:close/>
                </a:path>
              </a:pathLst>
            </a:custGeom>
            <a:blipFill>
              <a:blip r:embed="rId2"/>
              <a:stretch>
                <a:fillRect l="-5058" t="0" r="-5058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666750" y="1562100"/>
            <a:ext cx="9763125" cy="5723200"/>
            <a:chOff x="0" y="0"/>
            <a:chExt cx="13017500" cy="7630933"/>
          </a:xfrm>
        </p:grpSpPr>
        <p:sp>
          <p:nvSpPr>
            <p:cNvPr name="TextBox 5" id="5"/>
            <p:cNvSpPr txBox="true"/>
            <p:nvPr/>
          </p:nvSpPr>
          <p:spPr>
            <a:xfrm rot="0">
              <a:off x="0" y="1911869"/>
              <a:ext cx="13017500" cy="164274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359"/>
                </a:lnSpc>
                <a:spcBef>
                  <a:spcPct val="0"/>
                </a:spcBef>
              </a:pPr>
              <a:r>
                <a:rPr lang="en-US" b="true" sz="2400">
                  <a:solidFill>
                    <a:srgbClr val="2F4F4F"/>
                  </a:solidFill>
                  <a:latin typeface="Clear Sans Bold"/>
                  <a:ea typeface="Clear Sans Bold"/>
                  <a:cs typeface="Clear Sans Bold"/>
                  <a:sym typeface="Clear Sans Bold"/>
                </a:rPr>
                <a:t>WHAT</a:t>
              </a:r>
              <a:r>
                <a:rPr lang="en-US" b="true" sz="2400">
                  <a:solidFill>
                    <a:srgbClr val="2F4F4F"/>
                  </a:solidFill>
                  <a:latin typeface="Clear Sans Bold"/>
                  <a:ea typeface="Clear Sans Bold"/>
                  <a:cs typeface="Clear Sans Bold"/>
                  <a:sym typeface="Clear Sans Bold"/>
                </a:rPr>
                <a:t> IS SEMANTIC HTML?</a:t>
              </a:r>
            </a:p>
            <a:p>
              <a:pPr algn="l" marL="0" indent="0" lvl="0">
                <a:lnSpc>
                  <a:spcPts val="3359"/>
                </a:lnSpc>
                <a:spcBef>
                  <a:spcPct val="0"/>
                </a:spcBef>
              </a:pPr>
              <a:r>
                <a:rPr lang="en-US" b="true" sz="2400">
                  <a:solidFill>
                    <a:srgbClr val="2F4F4F"/>
                  </a:solidFill>
                  <a:latin typeface="Clear Sans Bold"/>
                  <a:ea typeface="Clear Sans Bold"/>
                  <a:cs typeface="Clear Sans Bold"/>
                  <a:sym typeface="Clear Sans Bold"/>
                </a:rPr>
                <a:t> • MEANINGFUL HTML TAGS</a:t>
              </a:r>
            </a:p>
            <a:p>
              <a:pPr algn="l" marL="0" indent="0" lvl="0">
                <a:lnSpc>
                  <a:spcPts val="3359"/>
                </a:lnSpc>
                <a:spcBef>
                  <a:spcPct val="0"/>
                </a:spcBef>
              </a:pPr>
              <a:r>
                <a:rPr lang="en-US" b="true" sz="2400">
                  <a:solidFill>
                    <a:srgbClr val="2F4F4F"/>
                  </a:solidFill>
                  <a:latin typeface="Clear Sans Bold"/>
                  <a:ea typeface="Clear Sans Bold"/>
                  <a:cs typeface="Clear Sans Bold"/>
                  <a:sym typeface="Clear Sans Bold"/>
                </a:rPr>
                <a:t> • IMPROVES ACCESSIBILITY &amp; SEO</a:t>
              </a:r>
            </a:p>
          </p:txBody>
        </p:sp>
        <p:sp>
          <p:nvSpPr>
            <p:cNvPr name="TextBox 6" id="6"/>
            <p:cNvSpPr txBox="true"/>
            <p:nvPr/>
          </p:nvSpPr>
          <p:spPr>
            <a:xfrm rot="0">
              <a:off x="0" y="4223287"/>
              <a:ext cx="13017500" cy="340764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939"/>
                </a:lnSpc>
                <a:spcBef>
                  <a:spcPct val="0"/>
                </a:spcBef>
              </a:pPr>
              <a:r>
                <a:rPr lang="en-US" sz="2099">
                  <a:solidFill>
                    <a:srgbClr val="2F4F4F"/>
                  </a:solidFill>
                  <a:latin typeface="Clear Sans"/>
                  <a:ea typeface="Clear Sans"/>
                  <a:cs typeface="Clear Sans"/>
                  <a:sym typeface="Clear Sans"/>
                </a:rPr>
                <a:t>Common</a:t>
              </a:r>
              <a:r>
                <a:rPr lang="en-US" sz="2099">
                  <a:solidFill>
                    <a:srgbClr val="2F4F4F"/>
                  </a:solidFill>
                  <a:latin typeface="Clear Sans"/>
                  <a:ea typeface="Clear Sans"/>
                  <a:cs typeface="Clear Sans"/>
                  <a:sym typeface="Clear Sans"/>
                </a:rPr>
                <a:t> Semantic Tags</a:t>
              </a:r>
            </a:p>
            <a:p>
              <a:pPr algn="l" marL="0" indent="0" lvl="0">
                <a:lnSpc>
                  <a:spcPts val="2939"/>
                </a:lnSpc>
                <a:spcBef>
                  <a:spcPct val="0"/>
                </a:spcBef>
              </a:pPr>
              <a:r>
                <a:rPr lang="en-US" sz="2099">
                  <a:solidFill>
                    <a:srgbClr val="2F4F4F"/>
                  </a:solidFill>
                  <a:latin typeface="Clear Sans"/>
                  <a:ea typeface="Clear Sans"/>
                  <a:cs typeface="Clear Sans"/>
                  <a:sym typeface="Clear Sans"/>
                </a:rPr>
                <a:t> • &lt;header&gt;</a:t>
              </a:r>
            </a:p>
            <a:p>
              <a:pPr algn="l" marL="0" indent="0" lvl="0">
                <a:lnSpc>
                  <a:spcPts val="2939"/>
                </a:lnSpc>
                <a:spcBef>
                  <a:spcPct val="0"/>
                </a:spcBef>
              </a:pPr>
              <a:r>
                <a:rPr lang="en-US" sz="2099">
                  <a:solidFill>
                    <a:srgbClr val="2F4F4F"/>
                  </a:solidFill>
                  <a:latin typeface="Clear Sans"/>
                  <a:ea typeface="Clear Sans"/>
                  <a:cs typeface="Clear Sans"/>
                  <a:sym typeface="Clear Sans"/>
                </a:rPr>
                <a:t> • &lt;nav&gt;</a:t>
              </a:r>
            </a:p>
            <a:p>
              <a:pPr algn="l" marL="0" indent="0" lvl="0">
                <a:lnSpc>
                  <a:spcPts val="2939"/>
                </a:lnSpc>
                <a:spcBef>
                  <a:spcPct val="0"/>
                </a:spcBef>
              </a:pPr>
              <a:r>
                <a:rPr lang="en-US" sz="2099">
                  <a:solidFill>
                    <a:srgbClr val="2F4F4F"/>
                  </a:solidFill>
                  <a:latin typeface="Clear Sans"/>
                  <a:ea typeface="Clear Sans"/>
                  <a:cs typeface="Clear Sans"/>
                  <a:sym typeface="Clear Sans"/>
                </a:rPr>
                <a:t> • &lt;main&gt;</a:t>
              </a:r>
            </a:p>
            <a:p>
              <a:pPr algn="l" marL="0" indent="0" lvl="0">
                <a:lnSpc>
                  <a:spcPts val="2939"/>
                </a:lnSpc>
                <a:spcBef>
                  <a:spcPct val="0"/>
                </a:spcBef>
              </a:pPr>
              <a:r>
                <a:rPr lang="en-US" sz="2099">
                  <a:solidFill>
                    <a:srgbClr val="2F4F4F"/>
                  </a:solidFill>
                  <a:latin typeface="Clear Sans"/>
                  <a:ea typeface="Clear Sans"/>
                  <a:cs typeface="Clear Sans"/>
                  <a:sym typeface="Clear Sans"/>
                </a:rPr>
                <a:t> • &lt;section&gt;</a:t>
              </a:r>
            </a:p>
            <a:p>
              <a:pPr algn="l" marL="0" indent="0" lvl="0">
                <a:lnSpc>
                  <a:spcPts val="2939"/>
                </a:lnSpc>
                <a:spcBef>
                  <a:spcPct val="0"/>
                </a:spcBef>
              </a:pPr>
              <a:r>
                <a:rPr lang="en-US" sz="2099">
                  <a:solidFill>
                    <a:srgbClr val="2F4F4F"/>
                  </a:solidFill>
                  <a:latin typeface="Clear Sans"/>
                  <a:ea typeface="Clear Sans"/>
                  <a:cs typeface="Clear Sans"/>
                  <a:sym typeface="Clear Sans"/>
                </a:rPr>
                <a:t> • &lt;article&gt;</a:t>
              </a:r>
            </a:p>
            <a:p>
              <a:pPr algn="l" marL="0" indent="0" lvl="0">
                <a:lnSpc>
                  <a:spcPts val="2939"/>
                </a:lnSpc>
                <a:spcBef>
                  <a:spcPct val="0"/>
                </a:spcBef>
              </a:pPr>
              <a:r>
                <a:rPr lang="en-US" sz="2099">
                  <a:solidFill>
                    <a:srgbClr val="2F4F4F"/>
                  </a:solidFill>
                  <a:latin typeface="Clear Sans"/>
                  <a:ea typeface="Clear Sans"/>
                  <a:cs typeface="Clear Sans"/>
                  <a:sym typeface="Clear Sans"/>
                </a:rPr>
                <a:t> • &lt;footer&gt;</a:t>
              </a:r>
            </a:p>
          </p:txBody>
        </p:sp>
        <p:sp>
          <p:nvSpPr>
            <p:cNvPr name="TextBox 7" id="7"/>
            <p:cNvSpPr txBox="true"/>
            <p:nvPr/>
          </p:nvSpPr>
          <p:spPr>
            <a:xfrm rot="0">
              <a:off x="0" y="0"/>
              <a:ext cx="13017500" cy="140793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8399"/>
                </a:lnSpc>
              </a:pPr>
              <a:r>
                <a:rPr lang="en-US" sz="6999" spc="-139">
                  <a:solidFill>
                    <a:srgbClr val="2F4F4F"/>
                  </a:solidFill>
                  <a:latin typeface="Tenor Sans"/>
                  <a:ea typeface="Tenor Sans"/>
                  <a:cs typeface="Tenor Sans"/>
                  <a:sym typeface="Tenor Sans"/>
                </a:rPr>
                <a:t>S</a:t>
              </a:r>
              <a:r>
                <a:rPr lang="en-US" sz="6999" spc="-139">
                  <a:solidFill>
                    <a:srgbClr val="2F4F4F"/>
                  </a:solidFill>
                  <a:latin typeface="Tenor Sans"/>
                  <a:ea typeface="Tenor Sans"/>
                  <a:cs typeface="Tenor Sans"/>
                  <a:sym typeface="Tenor Sans"/>
                </a:rPr>
                <a:t>emantic HTML</a:t>
              </a:r>
            </a:p>
          </p:txBody>
        </p:sp>
      </p:grp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2926989">
            <a:off x="-12431368" y="-8975965"/>
            <a:ext cx="27274407" cy="25058977"/>
          </a:xfrm>
          <a:custGeom>
            <a:avLst/>
            <a:gdLst/>
            <a:ahLst/>
            <a:cxnLst/>
            <a:rect r="r" b="b" t="t" l="l"/>
            <a:pathLst>
              <a:path h="25058977" w="27274407">
                <a:moveTo>
                  <a:pt x="0" y="0"/>
                </a:moveTo>
                <a:lnTo>
                  <a:pt x="27274407" y="0"/>
                </a:lnTo>
                <a:lnTo>
                  <a:pt x="27274407" y="25058977"/>
                </a:lnTo>
                <a:lnTo>
                  <a:pt x="0" y="2505897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3" id="3"/>
          <p:cNvSpPr/>
          <p:nvPr/>
        </p:nvSpPr>
        <p:spPr>
          <a:xfrm flipH="false" flipV="false" rot="5111384">
            <a:off x="13680135" y="1098024"/>
            <a:ext cx="12122938" cy="11672351"/>
          </a:xfrm>
          <a:custGeom>
            <a:avLst/>
            <a:gdLst/>
            <a:ahLst/>
            <a:cxnLst/>
            <a:rect r="r" b="b" t="t" l="l"/>
            <a:pathLst>
              <a:path h="11672351" w="12122938">
                <a:moveTo>
                  <a:pt x="0" y="0"/>
                </a:moveTo>
                <a:lnTo>
                  <a:pt x="12122939" y="0"/>
                </a:lnTo>
                <a:lnTo>
                  <a:pt x="12122939" y="11672352"/>
                </a:lnTo>
                <a:lnTo>
                  <a:pt x="0" y="1167235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666750" y="1562100"/>
            <a:ext cx="11201400" cy="16287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320"/>
              </a:lnSpc>
            </a:pPr>
            <a:r>
              <a:rPr lang="en-US" sz="3600" spc="-72">
                <a:solidFill>
                  <a:srgbClr val="2F4F4F"/>
                </a:solidFill>
                <a:latin typeface="Tenor Sans"/>
                <a:ea typeface="Tenor Sans"/>
                <a:cs typeface="Tenor Sans"/>
                <a:sym typeface="Tenor Sans"/>
              </a:rPr>
              <a:t>Task: Create a single HTML page that represents a simple personal or business website using only HTML.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666750" y="3143250"/>
            <a:ext cx="11609189" cy="67811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  <a:spcBef>
                <a:spcPct val="0"/>
              </a:spcBef>
            </a:pPr>
            <a:r>
              <a:rPr lang="en-US" sz="2399">
                <a:solidFill>
                  <a:srgbClr val="2F4F4F"/>
                </a:solidFill>
                <a:latin typeface="Clear Sans"/>
                <a:ea typeface="Clear Sans"/>
                <a:cs typeface="Clear Sans"/>
                <a:sym typeface="Clear Sans"/>
              </a:rPr>
              <a:t>Your HTML page must include:</a:t>
            </a:r>
          </a:p>
          <a:p>
            <a:pPr algn="l">
              <a:lnSpc>
                <a:spcPts val="3359"/>
              </a:lnSpc>
              <a:spcBef>
                <a:spcPct val="0"/>
              </a:spcBef>
            </a:pPr>
            <a:r>
              <a:rPr lang="en-US" sz="2399">
                <a:solidFill>
                  <a:srgbClr val="2F4F4F"/>
                </a:solidFill>
                <a:latin typeface="Clear Sans"/>
                <a:ea typeface="Clear Sans"/>
                <a:cs typeface="Clear Sans"/>
                <a:sym typeface="Clear Sans"/>
              </a:rPr>
              <a:t>1️⃣ Basic HTML Structure</a:t>
            </a:r>
          </a:p>
          <a:p>
            <a:pPr algn="l">
              <a:lnSpc>
                <a:spcPts val="3359"/>
              </a:lnSpc>
              <a:spcBef>
                <a:spcPct val="0"/>
              </a:spcBef>
            </a:pPr>
            <a:r>
              <a:rPr lang="en-US" sz="2399">
                <a:solidFill>
                  <a:srgbClr val="2F4F4F"/>
                </a:solidFill>
                <a:latin typeface="Clear Sans"/>
                <a:ea typeface="Clear Sans"/>
                <a:cs typeface="Clear Sans"/>
                <a:sym typeface="Clear Sans"/>
              </a:rPr>
              <a:t>2️⃣ Semantic HTML Elements</a:t>
            </a:r>
          </a:p>
          <a:p>
            <a:pPr algn="l">
              <a:lnSpc>
                <a:spcPts val="3359"/>
              </a:lnSpc>
              <a:spcBef>
                <a:spcPct val="0"/>
              </a:spcBef>
            </a:pPr>
            <a:r>
              <a:rPr lang="en-US" sz="2399">
                <a:solidFill>
                  <a:srgbClr val="2F4F4F"/>
                </a:solidFill>
                <a:latin typeface="Clear Sans"/>
                <a:ea typeface="Clear Sans"/>
                <a:cs typeface="Clear Sans"/>
                <a:sym typeface="Clear Sans"/>
              </a:rPr>
              <a:t>Use at least 4 semantic elements</a:t>
            </a:r>
          </a:p>
          <a:p>
            <a:pPr algn="l">
              <a:lnSpc>
                <a:spcPts val="3359"/>
              </a:lnSpc>
              <a:spcBef>
                <a:spcPct val="0"/>
              </a:spcBef>
            </a:pPr>
            <a:r>
              <a:rPr lang="en-US" sz="2399">
                <a:solidFill>
                  <a:srgbClr val="2F4F4F"/>
                </a:solidFill>
                <a:latin typeface="Clear Sans"/>
                <a:ea typeface="Clear Sans"/>
                <a:cs typeface="Clear Sans"/>
                <a:sym typeface="Clear Sans"/>
              </a:rPr>
              <a:t>3️⃣ Content Elements</a:t>
            </a:r>
          </a:p>
          <a:p>
            <a:pPr algn="l">
              <a:lnSpc>
                <a:spcPts val="3359"/>
              </a:lnSpc>
              <a:spcBef>
                <a:spcPct val="0"/>
              </a:spcBef>
            </a:pPr>
            <a:r>
              <a:rPr lang="en-US" sz="2399">
                <a:solidFill>
                  <a:srgbClr val="2F4F4F"/>
                </a:solidFill>
                <a:latin typeface="Clear Sans"/>
                <a:ea typeface="Clear Sans"/>
                <a:cs typeface="Clear Sans"/>
                <a:sym typeface="Clear Sans"/>
              </a:rPr>
              <a:t> • At least 1 heading</a:t>
            </a:r>
          </a:p>
          <a:p>
            <a:pPr algn="l">
              <a:lnSpc>
                <a:spcPts val="3359"/>
              </a:lnSpc>
              <a:spcBef>
                <a:spcPct val="0"/>
              </a:spcBef>
            </a:pPr>
            <a:r>
              <a:rPr lang="en-US" sz="2399">
                <a:solidFill>
                  <a:srgbClr val="2F4F4F"/>
                </a:solidFill>
                <a:latin typeface="Clear Sans"/>
                <a:ea typeface="Clear Sans"/>
                <a:cs typeface="Clear Sans"/>
                <a:sym typeface="Clear Sans"/>
              </a:rPr>
              <a:t> • At least 2 paragraphs</a:t>
            </a:r>
          </a:p>
          <a:p>
            <a:pPr algn="l">
              <a:lnSpc>
                <a:spcPts val="3359"/>
              </a:lnSpc>
              <a:spcBef>
                <a:spcPct val="0"/>
              </a:spcBef>
            </a:pPr>
            <a:r>
              <a:rPr lang="en-US" sz="2399">
                <a:solidFill>
                  <a:srgbClr val="2F4F4F"/>
                </a:solidFill>
                <a:latin typeface="Clear Sans"/>
                <a:ea typeface="Clear Sans"/>
                <a:cs typeface="Clear Sans"/>
                <a:sym typeface="Clear Sans"/>
              </a:rPr>
              <a:t> • 1 image with alt attribute</a:t>
            </a:r>
          </a:p>
          <a:p>
            <a:pPr algn="l">
              <a:lnSpc>
                <a:spcPts val="3359"/>
              </a:lnSpc>
              <a:spcBef>
                <a:spcPct val="0"/>
              </a:spcBef>
            </a:pPr>
            <a:r>
              <a:rPr lang="en-US" sz="2399">
                <a:solidFill>
                  <a:srgbClr val="2F4F4F"/>
                </a:solidFill>
                <a:latin typeface="Clear Sans"/>
                <a:ea typeface="Clear Sans"/>
                <a:cs typeface="Clear Sans"/>
                <a:sym typeface="Clear Sans"/>
              </a:rPr>
              <a:t> • 1 link (&lt;a&gt;)</a:t>
            </a:r>
          </a:p>
          <a:p>
            <a:pPr algn="l">
              <a:lnSpc>
                <a:spcPts val="3359"/>
              </a:lnSpc>
              <a:spcBef>
                <a:spcPct val="0"/>
              </a:spcBef>
            </a:pPr>
            <a:r>
              <a:rPr lang="en-US" sz="2399">
                <a:solidFill>
                  <a:srgbClr val="2F4F4F"/>
                </a:solidFill>
                <a:latin typeface="Clear Sans"/>
                <a:ea typeface="Clear Sans"/>
                <a:cs typeface="Clear Sans"/>
                <a:sym typeface="Clear Sans"/>
              </a:rPr>
              <a:t>4️⃣ List</a:t>
            </a:r>
          </a:p>
          <a:p>
            <a:pPr algn="l">
              <a:lnSpc>
                <a:spcPts val="3359"/>
              </a:lnSpc>
              <a:spcBef>
                <a:spcPct val="0"/>
              </a:spcBef>
            </a:pPr>
            <a:r>
              <a:rPr lang="en-US" sz="2399">
                <a:solidFill>
                  <a:srgbClr val="2F4F4F"/>
                </a:solidFill>
                <a:latin typeface="Clear Sans"/>
                <a:ea typeface="Clear Sans"/>
                <a:cs typeface="Clear Sans"/>
                <a:sym typeface="Clear Sans"/>
              </a:rPr>
              <a:t>5️⃣ Form</a:t>
            </a:r>
          </a:p>
          <a:p>
            <a:pPr algn="l">
              <a:lnSpc>
                <a:spcPts val="3359"/>
              </a:lnSpc>
              <a:spcBef>
                <a:spcPct val="0"/>
              </a:spcBef>
            </a:pPr>
            <a:r>
              <a:rPr lang="en-US" sz="2399">
                <a:solidFill>
                  <a:srgbClr val="2F4F4F"/>
                </a:solidFill>
                <a:latin typeface="Clear Sans"/>
                <a:ea typeface="Clear Sans"/>
                <a:cs typeface="Clear Sans"/>
                <a:sym typeface="Clear Sans"/>
              </a:rPr>
              <a:t>Create a simple form that includes:</a:t>
            </a:r>
          </a:p>
          <a:p>
            <a:pPr algn="l">
              <a:lnSpc>
                <a:spcPts val="3359"/>
              </a:lnSpc>
              <a:spcBef>
                <a:spcPct val="0"/>
              </a:spcBef>
            </a:pPr>
            <a:r>
              <a:rPr lang="en-US" sz="2399">
                <a:solidFill>
                  <a:srgbClr val="2F4F4F"/>
                </a:solidFill>
                <a:latin typeface="Clear Sans"/>
                <a:ea typeface="Clear Sans"/>
                <a:cs typeface="Clear Sans"/>
                <a:sym typeface="Clear Sans"/>
              </a:rPr>
              <a:t> • Text input</a:t>
            </a:r>
          </a:p>
          <a:p>
            <a:pPr algn="l">
              <a:lnSpc>
                <a:spcPts val="3359"/>
              </a:lnSpc>
              <a:spcBef>
                <a:spcPct val="0"/>
              </a:spcBef>
            </a:pPr>
            <a:r>
              <a:rPr lang="en-US" sz="2399">
                <a:solidFill>
                  <a:srgbClr val="2F4F4F"/>
                </a:solidFill>
                <a:latin typeface="Clear Sans"/>
                <a:ea typeface="Clear Sans"/>
                <a:cs typeface="Clear Sans"/>
                <a:sym typeface="Clear Sans"/>
              </a:rPr>
              <a:t> • Email input</a:t>
            </a:r>
          </a:p>
          <a:p>
            <a:pPr algn="l">
              <a:lnSpc>
                <a:spcPts val="3359"/>
              </a:lnSpc>
              <a:spcBef>
                <a:spcPct val="0"/>
              </a:spcBef>
            </a:pPr>
            <a:r>
              <a:rPr lang="en-US" sz="2399">
                <a:solidFill>
                  <a:srgbClr val="2F4F4F"/>
                </a:solidFill>
                <a:latin typeface="Clear Sans"/>
                <a:ea typeface="Clear Sans"/>
                <a:cs typeface="Clear Sans"/>
                <a:sym typeface="Clear Sans"/>
              </a:rPr>
              <a:t> • Submit button</a:t>
            </a:r>
          </a:p>
          <a:p>
            <a:pPr algn="l">
              <a:lnSpc>
                <a:spcPts val="4059"/>
              </a:lnSpc>
              <a:spcBef>
                <a:spcPct val="0"/>
              </a:spcBef>
            </a:pPr>
            <a:r>
              <a:rPr lang="en-US" b="true" sz="2899">
                <a:solidFill>
                  <a:srgbClr val="2F4F4F"/>
                </a:solidFill>
                <a:latin typeface="Clear Sans Bold"/>
                <a:ea typeface="Clear Sans Bold"/>
                <a:cs typeface="Clear Sans Bold"/>
                <a:sym typeface="Clear Sans Bold"/>
              </a:rPr>
              <a:t>Deadline</a:t>
            </a:r>
            <a:r>
              <a:rPr lang="en-US" sz="2899">
                <a:solidFill>
                  <a:srgbClr val="2F4F4F"/>
                </a:solidFill>
                <a:latin typeface="Clear Sans"/>
                <a:ea typeface="Clear Sans"/>
                <a:cs typeface="Clear Sans"/>
                <a:sym typeface="Clear Sans"/>
              </a:rPr>
              <a:t>: Before next lecture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description>Presentation - HTML Fundamentals</dc:description>
  <dc:identifier>DAG_UeO8uuo</dc:identifier>
  <dcterms:modified xsi:type="dcterms:W3CDTF">2011-08-01T06:04:30Z</dcterms:modified>
  <cp:revision>1</cp:revision>
  <dc:title>Presentation - HTML Fundamentals</dc:title>
</cp:coreProperties>
</file>