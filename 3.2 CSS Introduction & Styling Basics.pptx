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DM Sans" charset="1" panose="00000000000000000000"/>
      <p:regular r:id="rId17"/>
    </p:embeddedFont>
    <p:embeddedFont>
      <p:font typeface="DM Sans Bold" charset="1" panose="000000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21212"/>
        </a:solidFill>
      </p:bgPr>
    </p:bg>
    <p:spTree>
      <p:nvGrpSpPr>
        <p:cNvPr id="1" name=""/>
        <p:cNvGrpSpPr/>
        <p:nvPr/>
      </p:nvGrpSpPr>
      <p:grpSpPr>
        <a:xfrm>
          <a:off x="0" y="0"/>
          <a:ext cx="0" cy="0"/>
          <a:chOff x="0" y="0"/>
          <a:chExt cx="0" cy="0"/>
        </a:xfrm>
      </p:grpSpPr>
      <p:grpSp>
        <p:nvGrpSpPr>
          <p:cNvPr name="Group 2" id="2"/>
          <p:cNvGrpSpPr/>
          <p:nvPr/>
        </p:nvGrpSpPr>
        <p:grpSpPr>
          <a:xfrm rot="0">
            <a:off x="11525791" y="285750"/>
            <a:ext cx="7126185" cy="9715500"/>
            <a:chOff x="0" y="0"/>
            <a:chExt cx="1072489" cy="1462180"/>
          </a:xfrm>
        </p:grpSpPr>
        <p:sp>
          <p:nvSpPr>
            <p:cNvPr name="Freeform 3" id="3"/>
            <p:cNvSpPr/>
            <p:nvPr/>
          </p:nvSpPr>
          <p:spPr>
            <a:xfrm flipH="false" flipV="false" rot="0">
              <a:off x="0" y="0"/>
              <a:ext cx="1072489" cy="1462180"/>
            </a:xfrm>
            <a:custGeom>
              <a:avLst/>
              <a:gdLst/>
              <a:ahLst/>
              <a:cxnLst/>
              <a:rect r="r" b="b" t="t" l="l"/>
              <a:pathLst>
                <a:path h="1462180" w="1072489">
                  <a:moveTo>
                    <a:pt x="32592" y="0"/>
                  </a:moveTo>
                  <a:lnTo>
                    <a:pt x="1039897" y="0"/>
                  </a:lnTo>
                  <a:cubicBezTo>
                    <a:pt x="1057897" y="0"/>
                    <a:pt x="1072489" y="14592"/>
                    <a:pt x="1072489" y="32592"/>
                  </a:cubicBezTo>
                  <a:lnTo>
                    <a:pt x="1072489" y="1429588"/>
                  </a:lnTo>
                  <a:cubicBezTo>
                    <a:pt x="1072489" y="1447588"/>
                    <a:pt x="1057897" y="1462180"/>
                    <a:pt x="1039897" y="1462180"/>
                  </a:cubicBezTo>
                  <a:lnTo>
                    <a:pt x="32592" y="1462180"/>
                  </a:lnTo>
                  <a:cubicBezTo>
                    <a:pt x="23948" y="1462180"/>
                    <a:pt x="15658" y="1458746"/>
                    <a:pt x="9546" y="1452634"/>
                  </a:cubicBezTo>
                  <a:cubicBezTo>
                    <a:pt x="3434" y="1446522"/>
                    <a:pt x="0" y="1438232"/>
                    <a:pt x="0" y="1429588"/>
                  </a:cubicBezTo>
                  <a:lnTo>
                    <a:pt x="0" y="32592"/>
                  </a:lnTo>
                  <a:cubicBezTo>
                    <a:pt x="0" y="14592"/>
                    <a:pt x="14592" y="0"/>
                    <a:pt x="32592" y="0"/>
                  </a:cubicBezTo>
                  <a:close/>
                </a:path>
              </a:pathLst>
            </a:custGeom>
            <a:blipFill>
              <a:blip r:embed="rId2"/>
              <a:stretch>
                <a:fillRect l="0" t="-152" r="0" b="-152"/>
              </a:stretch>
            </a:blipFill>
          </p:spPr>
        </p:sp>
      </p:grpSp>
      <p:sp>
        <p:nvSpPr>
          <p:cNvPr name="TextBox 4" id="4"/>
          <p:cNvSpPr txBox="true"/>
          <p:nvPr/>
        </p:nvSpPr>
        <p:spPr>
          <a:xfrm rot="0">
            <a:off x="666750" y="3877302"/>
            <a:ext cx="10067925" cy="2787386"/>
          </a:xfrm>
          <a:prstGeom prst="rect">
            <a:avLst/>
          </a:prstGeom>
        </p:spPr>
        <p:txBody>
          <a:bodyPr anchor="t" rtlCol="false" tIns="0" lIns="0" bIns="0" rIns="0">
            <a:spAutoFit/>
          </a:bodyPr>
          <a:lstStyle/>
          <a:p>
            <a:pPr algn="ctr" marL="0" indent="0" lvl="0">
              <a:lnSpc>
                <a:spcPts val="10739"/>
              </a:lnSpc>
            </a:pPr>
            <a:r>
              <a:rPr lang="en-US" sz="10739" spc="-322">
                <a:solidFill>
                  <a:srgbClr val="61DAFB"/>
                </a:solidFill>
                <a:latin typeface="DM Sans"/>
                <a:ea typeface="DM Sans"/>
                <a:cs typeface="DM Sans"/>
                <a:sym typeface="DM Sans"/>
              </a:rPr>
              <a:t>CSS Introduction &amp; Styling Basics</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1E1E1E"/>
        </a:solidFill>
      </p:bgPr>
    </p:bg>
    <p:spTree>
      <p:nvGrpSpPr>
        <p:cNvPr id="1" name=""/>
        <p:cNvGrpSpPr/>
        <p:nvPr/>
      </p:nvGrpSpPr>
      <p:grpSpPr>
        <a:xfrm>
          <a:off x="0" y="0"/>
          <a:ext cx="0" cy="0"/>
          <a:chOff x="0" y="0"/>
          <a:chExt cx="0" cy="0"/>
        </a:xfrm>
      </p:grpSpPr>
      <p:sp>
        <p:nvSpPr>
          <p:cNvPr name="TextBox 2" id="2"/>
          <p:cNvSpPr txBox="true"/>
          <p:nvPr/>
        </p:nvSpPr>
        <p:spPr>
          <a:xfrm rot="0">
            <a:off x="571500" y="2000208"/>
            <a:ext cx="14173200" cy="1730795"/>
          </a:xfrm>
          <a:prstGeom prst="rect">
            <a:avLst/>
          </a:prstGeom>
        </p:spPr>
        <p:txBody>
          <a:bodyPr anchor="t" rtlCol="false" tIns="0" lIns="0" bIns="0" rIns="0">
            <a:spAutoFit/>
          </a:bodyPr>
          <a:lstStyle/>
          <a:p>
            <a:pPr algn="l" marL="0" indent="0" lvl="0">
              <a:lnSpc>
                <a:spcPts val="13016"/>
              </a:lnSpc>
            </a:pPr>
            <a:r>
              <a:rPr lang="en-US" sz="13016" spc="-390">
                <a:solidFill>
                  <a:srgbClr val="61DAFB"/>
                </a:solidFill>
                <a:latin typeface="DM Sans"/>
                <a:ea typeface="DM Sans"/>
                <a:cs typeface="DM Sans"/>
                <a:sym typeface="DM Sans"/>
              </a:rPr>
              <a:t>Objectives</a:t>
            </a:r>
          </a:p>
        </p:txBody>
      </p:sp>
      <p:sp>
        <p:nvSpPr>
          <p:cNvPr name="TextBox 3" id="3"/>
          <p:cNvSpPr txBox="true"/>
          <p:nvPr/>
        </p:nvSpPr>
        <p:spPr>
          <a:xfrm rot="0">
            <a:off x="571500" y="4994518"/>
            <a:ext cx="10675739" cy="2976879"/>
          </a:xfrm>
          <a:prstGeom prst="rect">
            <a:avLst/>
          </a:prstGeom>
        </p:spPr>
        <p:txBody>
          <a:bodyPr anchor="t" rtlCol="false" tIns="0" lIns="0" bIns="0" rIns="0">
            <a:spAutoFit/>
          </a:bodyPr>
          <a:lstStyle/>
          <a:p>
            <a:pPr algn="l" marL="1014724" indent="-507362" lvl="1">
              <a:lnSpc>
                <a:spcPts val="4699"/>
              </a:lnSpc>
              <a:buFont typeface="Arial"/>
              <a:buChar char="•"/>
            </a:pPr>
            <a:r>
              <a:rPr lang="en-US" sz="4699" spc="-140">
                <a:solidFill>
                  <a:srgbClr val="61DAFB"/>
                </a:solidFill>
                <a:latin typeface="DM Sans"/>
                <a:ea typeface="DM Sans"/>
                <a:cs typeface="DM Sans"/>
                <a:sym typeface="DM Sans"/>
              </a:rPr>
              <a:t>The definition of CSS</a:t>
            </a:r>
          </a:p>
          <a:p>
            <a:pPr algn="l" marL="1014724" indent="-507362" lvl="1">
              <a:lnSpc>
                <a:spcPts val="4699"/>
              </a:lnSpc>
              <a:buFont typeface="Arial"/>
              <a:buChar char="•"/>
            </a:pPr>
            <a:r>
              <a:rPr lang="en-US" sz="4699" spc="-140">
                <a:solidFill>
                  <a:srgbClr val="61DAFB"/>
                </a:solidFill>
                <a:latin typeface="DM Sans"/>
                <a:ea typeface="DM Sans"/>
                <a:cs typeface="DM Sans"/>
                <a:sym typeface="DM Sans"/>
              </a:rPr>
              <a:t>CSS selectors</a:t>
            </a:r>
          </a:p>
          <a:p>
            <a:pPr algn="l" marL="1014724" indent="-507362" lvl="1">
              <a:lnSpc>
                <a:spcPts val="4699"/>
              </a:lnSpc>
              <a:buFont typeface="Arial"/>
              <a:buChar char="•"/>
            </a:pPr>
            <a:r>
              <a:rPr lang="en-US" sz="4699" spc="-140">
                <a:solidFill>
                  <a:srgbClr val="61DAFB"/>
                </a:solidFill>
                <a:latin typeface="DM Sans"/>
                <a:ea typeface="DM Sans"/>
                <a:cs typeface="DM Sans"/>
                <a:sym typeface="DM Sans"/>
              </a:rPr>
              <a:t>CSS Property</a:t>
            </a:r>
          </a:p>
          <a:p>
            <a:pPr algn="l" marL="1014724" indent="-507362" lvl="1">
              <a:lnSpc>
                <a:spcPts val="4699"/>
              </a:lnSpc>
              <a:buFont typeface="Arial"/>
              <a:buChar char="•"/>
            </a:pPr>
            <a:r>
              <a:rPr lang="en-US" sz="4699" spc="-140">
                <a:solidFill>
                  <a:srgbClr val="61DAFB"/>
                </a:solidFill>
                <a:latin typeface="DM Sans"/>
                <a:ea typeface="DM Sans"/>
                <a:cs typeface="DM Sans"/>
                <a:sym typeface="DM Sans"/>
              </a:rPr>
              <a:t>Using different ways to style the page</a:t>
            </a:r>
          </a:p>
          <a:p>
            <a:pPr algn="l" marL="1014724" indent="-507362" lvl="1">
              <a:lnSpc>
                <a:spcPts val="4699"/>
              </a:lnSpc>
              <a:buFont typeface="Arial"/>
              <a:buChar char="•"/>
            </a:pPr>
            <a:r>
              <a:rPr lang="en-US" sz="4699" spc="-140">
                <a:solidFill>
                  <a:srgbClr val="61DAFB"/>
                </a:solidFill>
                <a:latin typeface="DM Sans"/>
                <a:ea typeface="DM Sans"/>
                <a:cs typeface="DM Sans"/>
                <a:sym typeface="DM Sans"/>
              </a:rPr>
              <a:t>Pseudo classes</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121212"/>
        </a:solidFill>
      </p:bgPr>
    </p:bg>
    <p:spTree>
      <p:nvGrpSpPr>
        <p:cNvPr id="1" name=""/>
        <p:cNvGrpSpPr/>
        <p:nvPr/>
      </p:nvGrpSpPr>
      <p:grpSpPr>
        <a:xfrm>
          <a:off x="0" y="0"/>
          <a:ext cx="0" cy="0"/>
          <a:chOff x="0" y="0"/>
          <a:chExt cx="0" cy="0"/>
        </a:xfrm>
      </p:grpSpPr>
      <p:sp>
        <p:nvSpPr>
          <p:cNvPr name="TextBox 2" id="2"/>
          <p:cNvSpPr txBox="true"/>
          <p:nvPr/>
        </p:nvSpPr>
        <p:spPr>
          <a:xfrm rot="0">
            <a:off x="2105025" y="3896942"/>
            <a:ext cx="14077950" cy="2333625"/>
          </a:xfrm>
          <a:prstGeom prst="rect">
            <a:avLst/>
          </a:prstGeom>
        </p:spPr>
        <p:txBody>
          <a:bodyPr anchor="t" rtlCol="false" tIns="0" lIns="0" bIns="0" rIns="0">
            <a:spAutoFit/>
          </a:bodyPr>
          <a:lstStyle/>
          <a:p>
            <a:pPr algn="ctr" marL="0" indent="0" lvl="0">
              <a:lnSpc>
                <a:spcPts val="6000"/>
              </a:lnSpc>
            </a:pPr>
            <a:r>
              <a:rPr lang="en-US" sz="6000" spc="-180">
                <a:solidFill>
                  <a:srgbClr val="61DAFB"/>
                </a:solidFill>
                <a:latin typeface="DM Sans"/>
                <a:ea typeface="DM Sans"/>
                <a:cs typeface="DM Sans"/>
                <a:sym typeface="DM Sans"/>
              </a:rPr>
              <a:t>CSS controls the </a:t>
            </a:r>
            <a:r>
              <a:rPr lang="en-US" b="true" sz="6000" spc="-180">
                <a:solidFill>
                  <a:srgbClr val="61DAFB"/>
                </a:solidFill>
                <a:latin typeface="DM Sans Bold"/>
                <a:ea typeface="DM Sans Bold"/>
                <a:cs typeface="DM Sans Bold"/>
                <a:sym typeface="DM Sans Bold"/>
              </a:rPr>
              <a:t>look and feel</a:t>
            </a:r>
            <a:r>
              <a:rPr lang="en-US" sz="6000" spc="-180">
                <a:solidFill>
                  <a:srgbClr val="61DAFB"/>
                </a:solidFill>
                <a:latin typeface="DM Sans"/>
                <a:ea typeface="DM Sans"/>
                <a:cs typeface="DM Sans"/>
                <a:sym typeface="DM Sans"/>
              </a:rPr>
              <a:t> of web pages, separating content from presentation for better design flexibility.</a:t>
            </a:r>
          </a:p>
        </p:txBody>
      </p:sp>
      <p:sp>
        <p:nvSpPr>
          <p:cNvPr name="TextBox 3" id="3"/>
          <p:cNvSpPr txBox="true"/>
          <p:nvPr/>
        </p:nvSpPr>
        <p:spPr>
          <a:xfrm rot="0">
            <a:off x="3543300" y="1638300"/>
            <a:ext cx="11201400" cy="609600"/>
          </a:xfrm>
          <a:prstGeom prst="rect">
            <a:avLst/>
          </a:prstGeom>
        </p:spPr>
        <p:txBody>
          <a:bodyPr anchor="t" rtlCol="false" tIns="0" lIns="0" bIns="0" rIns="0">
            <a:spAutoFit/>
          </a:bodyPr>
          <a:lstStyle/>
          <a:p>
            <a:pPr algn="ctr" marL="0" indent="0" lvl="0">
              <a:lnSpc>
                <a:spcPts val="4500"/>
              </a:lnSpc>
            </a:pPr>
            <a:r>
              <a:rPr lang="en-US" sz="4500" spc="-135">
                <a:solidFill>
                  <a:srgbClr val="61DAFB"/>
                </a:solidFill>
                <a:latin typeface="DM Sans"/>
                <a:ea typeface="DM Sans"/>
                <a:cs typeface="DM Sans"/>
                <a:sym typeface="DM Sans"/>
              </a:rPr>
              <a:t>What is CSS?</a:t>
            </a:r>
          </a:p>
        </p:txBody>
      </p:sp>
      <p:sp>
        <p:nvSpPr>
          <p:cNvPr name="TextBox 4" id="4"/>
          <p:cNvSpPr txBox="true"/>
          <p:nvPr/>
        </p:nvSpPr>
        <p:spPr>
          <a:xfrm rot="0">
            <a:off x="5898399" y="2760319"/>
            <a:ext cx="6229945" cy="614679"/>
          </a:xfrm>
          <a:prstGeom prst="rect">
            <a:avLst/>
          </a:prstGeom>
        </p:spPr>
        <p:txBody>
          <a:bodyPr anchor="t" rtlCol="false" tIns="0" lIns="0" bIns="0" rIns="0">
            <a:spAutoFit/>
          </a:bodyPr>
          <a:lstStyle/>
          <a:p>
            <a:pPr algn="ctr">
              <a:lnSpc>
                <a:spcPts val="4699"/>
              </a:lnSpc>
              <a:spcBef>
                <a:spcPct val="0"/>
              </a:spcBef>
            </a:pPr>
            <a:r>
              <a:rPr lang="en-US" sz="4699" spc="-140">
                <a:solidFill>
                  <a:srgbClr val="61DAFB"/>
                </a:solidFill>
                <a:latin typeface="DM Sans"/>
                <a:ea typeface="DM Sans"/>
                <a:cs typeface="DM Sans"/>
                <a:sym typeface="DM Sans"/>
              </a:rPr>
              <a:t>Cascading Style Sheets </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1E1E1E"/>
        </a:solidFill>
      </p:bgPr>
    </p:bg>
    <p:spTree>
      <p:nvGrpSpPr>
        <p:cNvPr id="1" name=""/>
        <p:cNvGrpSpPr/>
        <p:nvPr/>
      </p:nvGrpSpPr>
      <p:grpSpPr>
        <a:xfrm>
          <a:off x="0" y="0"/>
          <a:ext cx="0" cy="0"/>
          <a:chOff x="0" y="0"/>
          <a:chExt cx="0" cy="0"/>
        </a:xfrm>
      </p:grpSpPr>
      <p:sp>
        <p:nvSpPr>
          <p:cNvPr name="TextBox 2" id="2"/>
          <p:cNvSpPr txBox="true"/>
          <p:nvPr/>
        </p:nvSpPr>
        <p:spPr>
          <a:xfrm rot="0">
            <a:off x="571500" y="3599089"/>
            <a:ext cx="14173200" cy="3378199"/>
          </a:xfrm>
          <a:prstGeom prst="rect">
            <a:avLst/>
          </a:prstGeom>
        </p:spPr>
        <p:txBody>
          <a:bodyPr anchor="t" rtlCol="false" tIns="0" lIns="0" bIns="0" rIns="0">
            <a:spAutoFit/>
          </a:bodyPr>
          <a:lstStyle/>
          <a:p>
            <a:pPr algn="l" marL="0" indent="0" lvl="0">
              <a:lnSpc>
                <a:spcPts val="12999"/>
              </a:lnSpc>
            </a:pPr>
            <a:r>
              <a:rPr lang="en-US" sz="12999" spc="-389">
                <a:solidFill>
                  <a:srgbClr val="61DAFB"/>
                </a:solidFill>
                <a:latin typeface="DM Sans"/>
                <a:ea typeface="DM Sans"/>
                <a:cs typeface="DM Sans"/>
                <a:sym typeface="DM Sans"/>
              </a:rPr>
              <a:t>CSS Selectors Overview</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121212"/>
        </a:solidFill>
      </p:bgPr>
    </p:bg>
    <p:spTree>
      <p:nvGrpSpPr>
        <p:cNvPr id="1" name=""/>
        <p:cNvGrpSpPr/>
        <p:nvPr/>
      </p:nvGrpSpPr>
      <p:grpSpPr>
        <a:xfrm>
          <a:off x="0" y="0"/>
          <a:ext cx="0" cy="0"/>
          <a:chOff x="0" y="0"/>
          <a:chExt cx="0" cy="0"/>
        </a:xfrm>
      </p:grpSpPr>
      <p:sp>
        <p:nvSpPr>
          <p:cNvPr name="TextBox 2" id="2"/>
          <p:cNvSpPr txBox="true"/>
          <p:nvPr/>
        </p:nvSpPr>
        <p:spPr>
          <a:xfrm rot="0">
            <a:off x="3543300" y="1638300"/>
            <a:ext cx="11201400" cy="609600"/>
          </a:xfrm>
          <a:prstGeom prst="rect">
            <a:avLst/>
          </a:prstGeom>
        </p:spPr>
        <p:txBody>
          <a:bodyPr anchor="t" rtlCol="false" tIns="0" lIns="0" bIns="0" rIns="0">
            <a:spAutoFit/>
          </a:bodyPr>
          <a:lstStyle/>
          <a:p>
            <a:pPr algn="ctr" marL="0" indent="0" lvl="0">
              <a:lnSpc>
                <a:spcPts val="4500"/>
              </a:lnSpc>
            </a:pPr>
            <a:r>
              <a:rPr lang="en-US" sz="4500" spc="-135">
                <a:solidFill>
                  <a:srgbClr val="61DAFB"/>
                </a:solidFill>
                <a:latin typeface="DM Sans"/>
                <a:ea typeface="DM Sans"/>
                <a:cs typeface="DM Sans"/>
                <a:sym typeface="DM Sans"/>
              </a:rPr>
              <a:t>Common CSS Selectors</a:t>
            </a:r>
          </a:p>
        </p:txBody>
      </p:sp>
      <p:sp>
        <p:nvSpPr>
          <p:cNvPr name="TextBox 3" id="3"/>
          <p:cNvSpPr txBox="true"/>
          <p:nvPr/>
        </p:nvSpPr>
        <p:spPr>
          <a:xfrm rot="0">
            <a:off x="1426220" y="4221163"/>
            <a:ext cx="15586025" cy="1396365"/>
          </a:xfrm>
          <a:prstGeom prst="rect">
            <a:avLst/>
          </a:prstGeom>
        </p:spPr>
        <p:txBody>
          <a:bodyPr anchor="t" rtlCol="false" tIns="0" lIns="0" bIns="0" rIns="0">
            <a:spAutoFit/>
          </a:bodyPr>
          <a:lstStyle/>
          <a:p>
            <a:pPr algn="l" marL="777240" indent="-388620" lvl="1">
              <a:lnSpc>
                <a:spcPts val="3600"/>
              </a:lnSpc>
              <a:buFont typeface="Arial"/>
              <a:buChar char="•"/>
            </a:pPr>
            <a:r>
              <a:rPr lang="en-US" b="true" sz="3600" spc="-107">
                <a:solidFill>
                  <a:srgbClr val="61DAFB"/>
                </a:solidFill>
                <a:latin typeface="DM Sans Bold"/>
                <a:ea typeface="DM Sans Bold"/>
                <a:cs typeface="DM Sans Bold"/>
                <a:sym typeface="DM Sans Bold"/>
              </a:rPr>
              <a:t>Tag Selector</a:t>
            </a:r>
            <a:r>
              <a:rPr lang="en-US" sz="3600" spc="-107">
                <a:solidFill>
                  <a:srgbClr val="61DAFB"/>
                </a:solidFill>
                <a:latin typeface="DM Sans"/>
                <a:ea typeface="DM Sans"/>
                <a:cs typeface="DM Sans"/>
                <a:sym typeface="DM Sans"/>
              </a:rPr>
              <a:t>: select an element by the tag name</a:t>
            </a:r>
          </a:p>
          <a:p>
            <a:pPr algn="l" marL="777240" indent="-388620" lvl="1">
              <a:lnSpc>
                <a:spcPts val="3600"/>
              </a:lnSpc>
              <a:buFont typeface="Arial"/>
              <a:buChar char="•"/>
            </a:pPr>
            <a:r>
              <a:rPr lang="en-US" b="true" sz="3600" spc="-107">
                <a:solidFill>
                  <a:srgbClr val="61DAFB"/>
                </a:solidFill>
                <a:latin typeface="DM Sans Bold"/>
                <a:ea typeface="DM Sans Bold"/>
                <a:cs typeface="DM Sans Bold"/>
                <a:sym typeface="DM Sans Bold"/>
              </a:rPr>
              <a:t>Class Selector</a:t>
            </a:r>
            <a:r>
              <a:rPr lang="en-US" sz="3600" spc="-107">
                <a:solidFill>
                  <a:srgbClr val="61DAFB"/>
                </a:solidFill>
                <a:latin typeface="DM Sans"/>
                <a:ea typeface="DM Sans"/>
                <a:cs typeface="DM Sans"/>
                <a:sym typeface="DM Sans"/>
              </a:rPr>
              <a:t>: select a class by its name, add a dot before the class name</a:t>
            </a:r>
          </a:p>
          <a:p>
            <a:pPr algn="l" marL="777240" indent="-388620" lvl="1">
              <a:lnSpc>
                <a:spcPts val="3600"/>
              </a:lnSpc>
              <a:buFont typeface="Arial"/>
              <a:buChar char="•"/>
            </a:pPr>
            <a:r>
              <a:rPr lang="en-US" b="true" sz="3600" spc="-107">
                <a:solidFill>
                  <a:srgbClr val="61DAFB"/>
                </a:solidFill>
                <a:latin typeface="DM Sans Bold"/>
                <a:ea typeface="DM Sans Bold"/>
                <a:cs typeface="DM Sans Bold"/>
                <a:sym typeface="DM Sans Bold"/>
              </a:rPr>
              <a:t>ID Selector</a:t>
            </a:r>
            <a:r>
              <a:rPr lang="en-US" sz="3600" spc="-107">
                <a:solidFill>
                  <a:srgbClr val="61DAFB"/>
                </a:solidFill>
                <a:latin typeface="DM Sans"/>
                <a:ea typeface="DM Sans"/>
                <a:cs typeface="DM Sans"/>
                <a:sym typeface="DM Sans"/>
              </a:rPr>
              <a:t>: select an ID by its name, add a `#` sign before the ID name</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1E1E1E"/>
        </a:solidFill>
      </p:bgPr>
    </p:bg>
    <p:spTree>
      <p:nvGrpSpPr>
        <p:cNvPr id="1" name=""/>
        <p:cNvGrpSpPr/>
        <p:nvPr/>
      </p:nvGrpSpPr>
      <p:grpSpPr>
        <a:xfrm>
          <a:off x="0" y="0"/>
          <a:ext cx="0" cy="0"/>
          <a:chOff x="0" y="0"/>
          <a:chExt cx="0" cy="0"/>
        </a:xfrm>
      </p:grpSpPr>
      <p:sp>
        <p:nvSpPr>
          <p:cNvPr name="TextBox 2" id="2"/>
          <p:cNvSpPr txBox="true"/>
          <p:nvPr/>
        </p:nvSpPr>
        <p:spPr>
          <a:xfrm rot="0">
            <a:off x="1028700" y="1276350"/>
            <a:ext cx="14173200" cy="1730374"/>
          </a:xfrm>
          <a:prstGeom prst="rect">
            <a:avLst/>
          </a:prstGeom>
        </p:spPr>
        <p:txBody>
          <a:bodyPr anchor="t" rtlCol="false" tIns="0" lIns="0" bIns="0" rIns="0">
            <a:spAutoFit/>
          </a:bodyPr>
          <a:lstStyle/>
          <a:p>
            <a:pPr algn="l" marL="0" indent="0" lvl="0">
              <a:lnSpc>
                <a:spcPts val="12999"/>
              </a:lnSpc>
            </a:pPr>
            <a:r>
              <a:rPr lang="en-US" sz="12999" spc="-389">
                <a:solidFill>
                  <a:srgbClr val="61DAFB"/>
                </a:solidFill>
                <a:latin typeface="DM Sans"/>
                <a:ea typeface="DM Sans"/>
                <a:cs typeface="DM Sans"/>
                <a:sym typeface="DM Sans"/>
              </a:rPr>
              <a:t>CSS Properties</a:t>
            </a:r>
          </a:p>
        </p:txBody>
      </p:sp>
      <p:sp>
        <p:nvSpPr>
          <p:cNvPr name="TextBox 3" id="3"/>
          <p:cNvSpPr txBox="true"/>
          <p:nvPr/>
        </p:nvSpPr>
        <p:spPr>
          <a:xfrm rot="0">
            <a:off x="1302321" y="3587070"/>
            <a:ext cx="6287649" cy="5588315"/>
          </a:xfrm>
          <a:prstGeom prst="rect">
            <a:avLst/>
          </a:prstGeom>
        </p:spPr>
        <p:txBody>
          <a:bodyPr anchor="t" rtlCol="false" tIns="0" lIns="0" bIns="0" rIns="0">
            <a:spAutoFit/>
          </a:bodyPr>
          <a:lstStyle/>
          <a:p>
            <a:pPr algn="l" marL="945673" indent="-472837" lvl="1">
              <a:lnSpc>
                <a:spcPts val="4380"/>
              </a:lnSpc>
              <a:buFont typeface="Arial"/>
              <a:buChar char="•"/>
            </a:pPr>
            <a:r>
              <a:rPr lang="en-US" sz="4380" spc="-131">
                <a:solidFill>
                  <a:srgbClr val="61DAFB"/>
                </a:solidFill>
                <a:latin typeface="DM Sans"/>
                <a:ea typeface="DM Sans"/>
                <a:cs typeface="DM Sans"/>
                <a:sym typeface="DM Sans"/>
              </a:rPr>
              <a:t>Color</a:t>
            </a:r>
          </a:p>
          <a:p>
            <a:pPr algn="l" marL="945673" indent="-472837" lvl="1">
              <a:lnSpc>
                <a:spcPts val="4380"/>
              </a:lnSpc>
              <a:buFont typeface="Arial"/>
              <a:buChar char="•"/>
            </a:pPr>
            <a:r>
              <a:rPr lang="en-US" sz="4380" spc="-131">
                <a:solidFill>
                  <a:srgbClr val="61DAFB"/>
                </a:solidFill>
                <a:latin typeface="DM Sans"/>
                <a:ea typeface="DM Sans"/>
                <a:cs typeface="DM Sans"/>
                <a:sym typeface="DM Sans"/>
              </a:rPr>
              <a:t>Font-size</a:t>
            </a:r>
          </a:p>
          <a:p>
            <a:pPr algn="l" marL="945673" indent="-472837" lvl="1">
              <a:lnSpc>
                <a:spcPts val="4380"/>
              </a:lnSpc>
              <a:buFont typeface="Arial"/>
              <a:buChar char="•"/>
            </a:pPr>
            <a:r>
              <a:rPr lang="en-US" sz="4380" spc="-131">
                <a:solidFill>
                  <a:srgbClr val="61DAFB"/>
                </a:solidFill>
                <a:latin typeface="DM Sans"/>
                <a:ea typeface="DM Sans"/>
                <a:cs typeface="DM Sans"/>
                <a:sym typeface="DM Sans"/>
              </a:rPr>
              <a:t> Font-weight</a:t>
            </a:r>
          </a:p>
          <a:p>
            <a:pPr algn="l" marL="945673" indent="-472837" lvl="1">
              <a:lnSpc>
                <a:spcPts val="4380"/>
              </a:lnSpc>
              <a:buFont typeface="Arial"/>
              <a:buChar char="•"/>
            </a:pPr>
            <a:r>
              <a:rPr lang="en-US" sz="4380" spc="-131">
                <a:solidFill>
                  <a:srgbClr val="61DAFB"/>
                </a:solidFill>
                <a:latin typeface="DM Sans"/>
                <a:ea typeface="DM Sans"/>
                <a:cs typeface="DM Sans"/>
                <a:sym typeface="DM Sans"/>
              </a:rPr>
              <a:t>Background-color</a:t>
            </a:r>
          </a:p>
          <a:p>
            <a:pPr algn="l" marL="945673" indent="-472837" lvl="1">
              <a:lnSpc>
                <a:spcPts val="4380"/>
              </a:lnSpc>
              <a:buFont typeface="Arial"/>
              <a:buChar char="•"/>
            </a:pPr>
            <a:r>
              <a:rPr lang="en-US" sz="4380" spc="-131">
                <a:solidFill>
                  <a:srgbClr val="61DAFB"/>
                </a:solidFill>
                <a:latin typeface="DM Sans"/>
                <a:ea typeface="DM Sans"/>
                <a:cs typeface="DM Sans"/>
                <a:sym typeface="DM Sans"/>
              </a:rPr>
              <a:t>Opacity</a:t>
            </a:r>
          </a:p>
          <a:p>
            <a:pPr algn="l" marL="945673" indent="-472837" lvl="1">
              <a:lnSpc>
                <a:spcPts val="4380"/>
              </a:lnSpc>
              <a:buFont typeface="Arial"/>
              <a:buChar char="•"/>
            </a:pPr>
            <a:r>
              <a:rPr lang="en-US" sz="4380" spc="-131">
                <a:solidFill>
                  <a:srgbClr val="61DAFB"/>
                </a:solidFill>
                <a:latin typeface="DM Sans"/>
                <a:ea typeface="DM Sans"/>
                <a:cs typeface="DM Sans"/>
                <a:sym typeface="DM Sans"/>
              </a:rPr>
              <a:t>Margin</a:t>
            </a:r>
          </a:p>
          <a:p>
            <a:pPr algn="l" marL="945673" indent="-472837" lvl="1">
              <a:lnSpc>
                <a:spcPts val="4380"/>
              </a:lnSpc>
              <a:buFont typeface="Arial"/>
              <a:buChar char="•"/>
            </a:pPr>
            <a:r>
              <a:rPr lang="en-US" sz="4380" spc="-131">
                <a:solidFill>
                  <a:srgbClr val="61DAFB"/>
                </a:solidFill>
                <a:latin typeface="DM Sans"/>
                <a:ea typeface="DM Sans"/>
                <a:cs typeface="DM Sans"/>
                <a:sym typeface="DM Sans"/>
              </a:rPr>
              <a:t>Border</a:t>
            </a:r>
          </a:p>
          <a:p>
            <a:pPr algn="l" marL="945673" indent="-472837" lvl="1">
              <a:lnSpc>
                <a:spcPts val="4380"/>
              </a:lnSpc>
              <a:buFont typeface="Arial"/>
              <a:buChar char="•"/>
            </a:pPr>
            <a:r>
              <a:rPr lang="en-US" sz="4380" spc="-131">
                <a:solidFill>
                  <a:srgbClr val="61DAFB"/>
                </a:solidFill>
                <a:latin typeface="DM Sans"/>
                <a:ea typeface="DM Sans"/>
                <a:cs typeface="DM Sans"/>
                <a:sym typeface="DM Sans"/>
              </a:rPr>
              <a:t>Padding</a:t>
            </a:r>
          </a:p>
          <a:p>
            <a:pPr algn="l" marL="945673" indent="-472837" lvl="1">
              <a:lnSpc>
                <a:spcPts val="4380"/>
              </a:lnSpc>
              <a:buFont typeface="Arial"/>
              <a:buChar char="•"/>
            </a:pPr>
            <a:r>
              <a:rPr lang="en-US" sz="4380" spc="-131">
                <a:solidFill>
                  <a:srgbClr val="61DAFB"/>
                </a:solidFill>
                <a:latin typeface="DM Sans"/>
                <a:ea typeface="DM Sans"/>
                <a:cs typeface="DM Sans"/>
                <a:sym typeface="DM Sans"/>
              </a:rPr>
              <a:t>CSS Text</a:t>
            </a:r>
          </a:p>
          <a:p>
            <a:pPr algn="l" marL="945673" indent="-472837" lvl="1">
              <a:lnSpc>
                <a:spcPts val="4380"/>
              </a:lnSpc>
              <a:buFont typeface="Arial"/>
              <a:buChar char="•"/>
            </a:pPr>
            <a:r>
              <a:rPr lang="en-US" sz="4380" spc="-131">
                <a:solidFill>
                  <a:srgbClr val="61DAFB"/>
                </a:solidFill>
                <a:latin typeface="DM Sans"/>
                <a:ea typeface="DM Sans"/>
                <a:cs typeface="DM Sans"/>
                <a:sym typeface="DM Sans"/>
              </a:rPr>
              <a:t>CSS Height and Width</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121212"/>
        </a:solidFill>
      </p:bgPr>
    </p:bg>
    <p:spTree>
      <p:nvGrpSpPr>
        <p:cNvPr id="1" name=""/>
        <p:cNvGrpSpPr/>
        <p:nvPr/>
      </p:nvGrpSpPr>
      <p:grpSpPr>
        <a:xfrm>
          <a:off x="0" y="0"/>
          <a:ext cx="0" cy="0"/>
          <a:chOff x="0" y="0"/>
          <a:chExt cx="0" cy="0"/>
        </a:xfrm>
      </p:grpSpPr>
      <p:sp>
        <p:nvSpPr>
          <p:cNvPr name="TextBox 2" id="2"/>
          <p:cNvSpPr txBox="true"/>
          <p:nvPr/>
        </p:nvSpPr>
        <p:spPr>
          <a:xfrm rot="0">
            <a:off x="3543300" y="1695450"/>
            <a:ext cx="11201400" cy="850899"/>
          </a:xfrm>
          <a:prstGeom prst="rect">
            <a:avLst/>
          </a:prstGeom>
        </p:spPr>
        <p:txBody>
          <a:bodyPr anchor="t" rtlCol="false" tIns="0" lIns="0" bIns="0" rIns="0">
            <a:spAutoFit/>
          </a:bodyPr>
          <a:lstStyle/>
          <a:p>
            <a:pPr algn="ctr" marL="0" indent="0" lvl="0">
              <a:lnSpc>
                <a:spcPts val="6499"/>
              </a:lnSpc>
            </a:pPr>
            <a:r>
              <a:rPr lang="en-US" sz="6499" spc="-194">
                <a:solidFill>
                  <a:srgbClr val="61DAFB"/>
                </a:solidFill>
                <a:latin typeface="DM Sans"/>
                <a:ea typeface="DM Sans"/>
                <a:cs typeface="DM Sans"/>
                <a:sym typeface="DM Sans"/>
              </a:rPr>
              <a:t>Pseud</a:t>
            </a:r>
            <a:r>
              <a:rPr lang="en-US" sz="6499" spc="-194">
                <a:solidFill>
                  <a:srgbClr val="61DAFB"/>
                </a:solidFill>
                <a:latin typeface="DM Sans"/>
                <a:ea typeface="DM Sans"/>
                <a:cs typeface="DM Sans"/>
                <a:sym typeface="DM Sans"/>
              </a:rPr>
              <a:t>o classes</a:t>
            </a:r>
          </a:p>
        </p:txBody>
      </p:sp>
      <p:sp>
        <p:nvSpPr>
          <p:cNvPr name="TextBox 3" id="3"/>
          <p:cNvSpPr txBox="true"/>
          <p:nvPr/>
        </p:nvSpPr>
        <p:spPr>
          <a:xfrm rot="0">
            <a:off x="1349722" y="4221163"/>
            <a:ext cx="16938278" cy="3225165"/>
          </a:xfrm>
          <a:prstGeom prst="rect">
            <a:avLst/>
          </a:prstGeom>
        </p:spPr>
        <p:txBody>
          <a:bodyPr anchor="t" rtlCol="false" tIns="0" lIns="0" bIns="0" rIns="0">
            <a:spAutoFit/>
          </a:bodyPr>
          <a:lstStyle/>
          <a:p>
            <a:pPr algn="l" marL="777240" indent="-388620" lvl="1">
              <a:lnSpc>
                <a:spcPts val="3600"/>
              </a:lnSpc>
              <a:buFont typeface="Arial"/>
              <a:buChar char="•"/>
            </a:pPr>
            <a:r>
              <a:rPr lang="en-US" sz="3600" spc="-107">
                <a:solidFill>
                  <a:srgbClr val="61DAFB"/>
                </a:solidFill>
                <a:latin typeface="DM Sans"/>
                <a:ea typeface="DM Sans"/>
                <a:cs typeface="DM Sans"/>
                <a:sym typeface="DM Sans"/>
              </a:rPr>
              <a:t>hover: change the cursor for the mouse to be a pointer to indicate that the element is clickable</a:t>
            </a:r>
          </a:p>
          <a:p>
            <a:pPr algn="l" marL="777240" indent="-388620" lvl="1">
              <a:lnSpc>
                <a:spcPts val="3600"/>
              </a:lnSpc>
              <a:buFont typeface="Arial"/>
              <a:buChar char="•"/>
            </a:pPr>
            <a:r>
              <a:rPr lang="en-US" sz="3600" spc="-107">
                <a:solidFill>
                  <a:srgbClr val="61DAFB"/>
                </a:solidFill>
                <a:latin typeface="DM Sans"/>
                <a:ea typeface="DM Sans"/>
                <a:cs typeface="DM Sans"/>
                <a:sym typeface="DM Sans"/>
              </a:rPr>
              <a:t>active :When clicking an any element it changes it's state to active and it stays active as long as the user keeps holding the click, it is mainly used with anchor tags.</a:t>
            </a:r>
          </a:p>
          <a:p>
            <a:pPr algn="l" marL="777240" indent="-388620" lvl="1">
              <a:lnSpc>
                <a:spcPts val="3600"/>
              </a:lnSpc>
              <a:buFont typeface="Arial"/>
              <a:buChar char="•"/>
            </a:pPr>
            <a:r>
              <a:rPr lang="en-US" sz="3600" spc="-107">
                <a:solidFill>
                  <a:srgbClr val="61DAFB"/>
                </a:solidFill>
                <a:latin typeface="DM Sans"/>
                <a:ea typeface="DM Sans"/>
                <a:cs typeface="DM Sans"/>
                <a:sym typeface="DM Sans"/>
              </a:rPr>
              <a:t>disabled : used to change the style for elements that are disabled</a:t>
            </a:r>
          </a:p>
          <a:p>
            <a:pPr algn="l" marL="777240" indent="-388620" lvl="1">
              <a:lnSpc>
                <a:spcPts val="3600"/>
              </a:lnSpc>
              <a:buFont typeface="Arial"/>
              <a:buChar char="•"/>
            </a:pPr>
            <a:r>
              <a:rPr lang="en-US" sz="3600" spc="-107">
                <a:solidFill>
                  <a:srgbClr val="61DAFB"/>
                </a:solidFill>
                <a:latin typeface="DM Sans"/>
                <a:ea typeface="DM Sans"/>
                <a:cs typeface="DM Sans"/>
                <a:sym typeface="DM Sans"/>
              </a:rPr>
              <a:t>visited: used to change the style for links that are opend</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1E1E1E"/>
        </a:solidFill>
      </p:bgPr>
    </p:bg>
    <p:spTree>
      <p:nvGrpSpPr>
        <p:cNvPr id="1" name=""/>
        <p:cNvGrpSpPr/>
        <p:nvPr/>
      </p:nvGrpSpPr>
      <p:grpSpPr>
        <a:xfrm>
          <a:off x="0" y="0"/>
          <a:ext cx="0" cy="0"/>
          <a:chOff x="0" y="0"/>
          <a:chExt cx="0" cy="0"/>
        </a:xfrm>
      </p:grpSpPr>
      <p:sp>
        <p:nvSpPr>
          <p:cNvPr name="TextBox 2" id="2"/>
          <p:cNvSpPr txBox="true"/>
          <p:nvPr/>
        </p:nvSpPr>
        <p:spPr>
          <a:xfrm rot="0">
            <a:off x="571500" y="4423002"/>
            <a:ext cx="14173200" cy="1730374"/>
          </a:xfrm>
          <a:prstGeom prst="rect">
            <a:avLst/>
          </a:prstGeom>
        </p:spPr>
        <p:txBody>
          <a:bodyPr anchor="t" rtlCol="false" tIns="0" lIns="0" bIns="0" rIns="0">
            <a:spAutoFit/>
          </a:bodyPr>
          <a:lstStyle/>
          <a:p>
            <a:pPr algn="l" marL="0" indent="0" lvl="0">
              <a:lnSpc>
                <a:spcPts val="12999"/>
              </a:lnSpc>
            </a:pPr>
            <a:r>
              <a:rPr lang="en-US" sz="12999" spc="-389">
                <a:solidFill>
                  <a:srgbClr val="61DAFB"/>
                </a:solidFill>
                <a:latin typeface="DM Sans"/>
                <a:ea typeface="DM Sans"/>
                <a:cs typeface="DM Sans"/>
                <a:sym typeface="DM Sans"/>
              </a:rPr>
              <a:t>Ways to Apply CSS</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121212"/>
        </a:solidFill>
      </p:bgPr>
    </p:bg>
    <p:spTree>
      <p:nvGrpSpPr>
        <p:cNvPr id="1" name=""/>
        <p:cNvGrpSpPr/>
        <p:nvPr/>
      </p:nvGrpSpPr>
      <p:grpSpPr>
        <a:xfrm>
          <a:off x="0" y="0"/>
          <a:ext cx="0" cy="0"/>
          <a:chOff x="0" y="0"/>
          <a:chExt cx="0" cy="0"/>
        </a:xfrm>
      </p:grpSpPr>
      <p:sp>
        <p:nvSpPr>
          <p:cNvPr name="TextBox 2" id="2"/>
          <p:cNvSpPr txBox="true"/>
          <p:nvPr/>
        </p:nvSpPr>
        <p:spPr>
          <a:xfrm rot="0">
            <a:off x="2105025" y="3896942"/>
            <a:ext cx="14077950" cy="3095625"/>
          </a:xfrm>
          <a:prstGeom prst="rect">
            <a:avLst/>
          </a:prstGeom>
        </p:spPr>
        <p:txBody>
          <a:bodyPr anchor="t" rtlCol="false" tIns="0" lIns="0" bIns="0" rIns="0">
            <a:spAutoFit/>
          </a:bodyPr>
          <a:lstStyle/>
          <a:p>
            <a:pPr algn="ctr" marL="0" indent="0" lvl="0">
              <a:lnSpc>
                <a:spcPts val="6000"/>
              </a:lnSpc>
            </a:pPr>
            <a:r>
              <a:rPr lang="en-US" sz="6000" spc="-180">
                <a:solidFill>
                  <a:srgbClr val="61DAFB"/>
                </a:solidFill>
                <a:latin typeface="DM Sans"/>
                <a:ea typeface="DM Sans"/>
                <a:cs typeface="DM Sans"/>
                <a:sym typeface="DM Sans"/>
              </a:rPr>
              <a:t>CSS can be applied through </a:t>
            </a:r>
            <a:r>
              <a:rPr lang="en-US" b="true" sz="6000" spc="-180">
                <a:solidFill>
                  <a:srgbClr val="FFFFFF"/>
                </a:solidFill>
                <a:latin typeface="DM Sans Bold"/>
                <a:ea typeface="DM Sans Bold"/>
                <a:cs typeface="DM Sans Bold"/>
                <a:sym typeface="DM Sans Bold"/>
              </a:rPr>
              <a:t>inline</a:t>
            </a:r>
            <a:r>
              <a:rPr lang="en-US" sz="6000" spc="-180">
                <a:solidFill>
                  <a:srgbClr val="61DAFB"/>
                </a:solidFill>
                <a:latin typeface="DM Sans"/>
                <a:ea typeface="DM Sans"/>
                <a:cs typeface="DM Sans"/>
                <a:sym typeface="DM Sans"/>
              </a:rPr>
              <a:t>, </a:t>
            </a:r>
            <a:r>
              <a:rPr lang="en-US" b="true" sz="6000" spc="-180">
                <a:solidFill>
                  <a:srgbClr val="FFFFFF"/>
                </a:solidFill>
                <a:latin typeface="DM Sans Bold"/>
                <a:ea typeface="DM Sans Bold"/>
                <a:cs typeface="DM Sans Bold"/>
                <a:sym typeface="DM Sans Bold"/>
              </a:rPr>
              <a:t>internal</a:t>
            </a:r>
            <a:r>
              <a:rPr lang="en-US" sz="6000" spc="-180">
                <a:solidFill>
                  <a:srgbClr val="61DAFB"/>
                </a:solidFill>
                <a:latin typeface="DM Sans"/>
                <a:ea typeface="DM Sans"/>
                <a:cs typeface="DM Sans"/>
                <a:sym typeface="DM Sans"/>
              </a:rPr>
              <a:t>, or </a:t>
            </a:r>
            <a:r>
              <a:rPr lang="en-US" b="true" sz="6000" spc="-180">
                <a:solidFill>
                  <a:srgbClr val="FFFFFF"/>
                </a:solidFill>
                <a:latin typeface="DM Sans Bold"/>
                <a:ea typeface="DM Sans Bold"/>
                <a:cs typeface="DM Sans Bold"/>
                <a:sym typeface="DM Sans Bold"/>
              </a:rPr>
              <a:t>external stylesheets</a:t>
            </a:r>
            <a:r>
              <a:rPr lang="en-US" sz="6000" spc="-180">
                <a:solidFill>
                  <a:srgbClr val="61DAFB"/>
                </a:solidFill>
                <a:latin typeface="DM Sans"/>
                <a:ea typeface="DM Sans"/>
                <a:cs typeface="DM Sans"/>
                <a:sym typeface="DM Sans"/>
              </a:rPr>
              <a:t>, each offering unique benefits for web development.</a:t>
            </a:r>
          </a:p>
        </p:txBody>
      </p:sp>
      <p:sp>
        <p:nvSpPr>
          <p:cNvPr name="TextBox 3" id="3"/>
          <p:cNvSpPr txBox="true"/>
          <p:nvPr/>
        </p:nvSpPr>
        <p:spPr>
          <a:xfrm rot="0">
            <a:off x="3543300" y="1638300"/>
            <a:ext cx="11201400" cy="609600"/>
          </a:xfrm>
          <a:prstGeom prst="rect">
            <a:avLst/>
          </a:prstGeom>
        </p:spPr>
        <p:txBody>
          <a:bodyPr anchor="t" rtlCol="false" tIns="0" lIns="0" bIns="0" rIns="0">
            <a:spAutoFit/>
          </a:bodyPr>
          <a:lstStyle/>
          <a:p>
            <a:pPr algn="ctr" marL="0" indent="0" lvl="0">
              <a:lnSpc>
                <a:spcPts val="4500"/>
              </a:lnSpc>
            </a:pPr>
            <a:r>
              <a:rPr lang="en-US" sz="4500" spc="-135">
                <a:solidFill>
                  <a:srgbClr val="61DAFB"/>
                </a:solidFill>
                <a:latin typeface="DM Sans"/>
                <a:ea typeface="DM Sans"/>
                <a:cs typeface="DM Sans"/>
                <a:sym typeface="DM Sans"/>
              </a:rPr>
              <a:t>CSS Application Methods</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121212"/>
        </a:solidFill>
      </p:bgPr>
    </p:bg>
    <p:spTree>
      <p:nvGrpSpPr>
        <p:cNvPr id="1" name=""/>
        <p:cNvGrpSpPr/>
        <p:nvPr/>
      </p:nvGrpSpPr>
      <p:grpSpPr>
        <a:xfrm>
          <a:off x="0" y="0"/>
          <a:ext cx="0" cy="0"/>
          <a:chOff x="0" y="0"/>
          <a:chExt cx="0" cy="0"/>
        </a:xfrm>
      </p:grpSpPr>
      <p:sp>
        <p:nvSpPr>
          <p:cNvPr name="TextBox 2" id="2"/>
          <p:cNvSpPr txBox="true"/>
          <p:nvPr/>
        </p:nvSpPr>
        <p:spPr>
          <a:xfrm rot="0">
            <a:off x="235521" y="1076325"/>
            <a:ext cx="14813459" cy="8034655"/>
          </a:xfrm>
          <a:prstGeom prst="rect">
            <a:avLst/>
          </a:prstGeom>
        </p:spPr>
        <p:txBody>
          <a:bodyPr anchor="t" rtlCol="false" tIns="0" lIns="0" bIns="0" rIns="0">
            <a:spAutoFit/>
          </a:bodyPr>
          <a:lstStyle/>
          <a:p>
            <a:pPr algn="l">
              <a:lnSpc>
                <a:spcPts val="3200"/>
              </a:lnSpc>
              <a:spcBef>
                <a:spcPct val="0"/>
              </a:spcBef>
            </a:pPr>
            <a:r>
              <a:rPr lang="en-US" b="true" sz="3200" spc="-96">
                <a:solidFill>
                  <a:srgbClr val="61DAFB"/>
                </a:solidFill>
                <a:latin typeface="DM Sans Bold"/>
                <a:ea typeface="DM Sans Bold"/>
                <a:cs typeface="DM Sans Bold"/>
                <a:sym typeface="DM Sans Bold"/>
              </a:rPr>
              <a:t>Task</a:t>
            </a:r>
            <a:r>
              <a:rPr lang="en-US" sz="3200" spc="-96">
                <a:solidFill>
                  <a:srgbClr val="61DAFB"/>
                </a:solidFill>
                <a:latin typeface="DM Sans"/>
                <a:ea typeface="DM Sans"/>
                <a:cs typeface="DM Sans"/>
                <a:sym typeface="DM Sans"/>
              </a:rPr>
              <a:t>: </a:t>
            </a:r>
            <a:r>
              <a:rPr lang="en-US" sz="3200" spc="-96">
                <a:solidFill>
                  <a:srgbClr val="61DAFB"/>
                </a:solidFill>
                <a:latin typeface="DM Sans"/>
                <a:ea typeface="DM Sans"/>
                <a:cs typeface="DM Sans"/>
                <a:sym typeface="DM Sans"/>
              </a:rPr>
              <a:t>Using your personal / business website HTML page, style it with CSS . Focus on:</a:t>
            </a:r>
          </a:p>
          <a:p>
            <a:pPr algn="l">
              <a:lnSpc>
                <a:spcPts val="3200"/>
              </a:lnSpc>
              <a:spcBef>
                <a:spcPct val="0"/>
              </a:spcBef>
            </a:pPr>
          </a:p>
          <a:p>
            <a:pPr algn="l">
              <a:lnSpc>
                <a:spcPts val="3200"/>
              </a:lnSpc>
              <a:spcBef>
                <a:spcPct val="0"/>
              </a:spcBef>
            </a:pPr>
            <a:r>
              <a:rPr lang="en-US" sz="3200" spc="-96">
                <a:solidFill>
                  <a:srgbClr val="FFFFFF"/>
                </a:solidFill>
                <a:latin typeface="DM Sans"/>
                <a:ea typeface="DM Sans"/>
                <a:cs typeface="DM Sans"/>
                <a:sym typeface="DM Sans"/>
              </a:rPr>
              <a:t>1️⃣ Headings &amp; Paragraphs</a:t>
            </a:r>
          </a:p>
          <a:p>
            <a:pPr algn="l">
              <a:lnSpc>
                <a:spcPts val="3200"/>
              </a:lnSpc>
              <a:spcBef>
                <a:spcPct val="0"/>
              </a:spcBef>
            </a:pPr>
            <a:r>
              <a:rPr lang="en-US" sz="3200" spc="-96">
                <a:solidFill>
                  <a:srgbClr val="FFFFFF"/>
                </a:solidFill>
                <a:latin typeface="DM Sans"/>
                <a:ea typeface="DM Sans"/>
                <a:cs typeface="DM Sans"/>
                <a:sym typeface="DM Sans"/>
              </a:rPr>
              <a:t> • Change text colors</a:t>
            </a:r>
          </a:p>
          <a:p>
            <a:pPr algn="l">
              <a:lnSpc>
                <a:spcPts val="3200"/>
              </a:lnSpc>
              <a:spcBef>
                <a:spcPct val="0"/>
              </a:spcBef>
            </a:pPr>
            <a:r>
              <a:rPr lang="en-US" sz="3200" spc="-96">
                <a:solidFill>
                  <a:srgbClr val="FFFFFF"/>
                </a:solidFill>
                <a:latin typeface="DM Sans"/>
                <a:ea typeface="DM Sans"/>
                <a:cs typeface="DM Sans"/>
                <a:sym typeface="DM Sans"/>
              </a:rPr>
              <a:t> • Change font family and font size</a:t>
            </a:r>
          </a:p>
          <a:p>
            <a:pPr algn="l">
              <a:lnSpc>
                <a:spcPts val="3200"/>
              </a:lnSpc>
              <a:spcBef>
                <a:spcPct val="0"/>
              </a:spcBef>
            </a:pPr>
            <a:r>
              <a:rPr lang="en-US" sz="3200" spc="-96">
                <a:solidFill>
                  <a:srgbClr val="FFFFFF"/>
                </a:solidFill>
                <a:latin typeface="DM Sans"/>
                <a:ea typeface="DM Sans"/>
                <a:cs typeface="DM Sans"/>
                <a:sym typeface="DM Sans"/>
              </a:rPr>
              <a:t>2️⃣ Links</a:t>
            </a:r>
          </a:p>
          <a:p>
            <a:pPr algn="l">
              <a:lnSpc>
                <a:spcPts val="3200"/>
              </a:lnSpc>
              <a:spcBef>
                <a:spcPct val="0"/>
              </a:spcBef>
            </a:pPr>
            <a:r>
              <a:rPr lang="en-US" sz="3200" spc="-96">
                <a:solidFill>
                  <a:srgbClr val="FFFFFF"/>
                </a:solidFill>
                <a:latin typeface="DM Sans"/>
                <a:ea typeface="DM Sans"/>
                <a:cs typeface="DM Sans"/>
                <a:sym typeface="DM Sans"/>
              </a:rPr>
              <a:t> • Add hover effect (:hover) to links</a:t>
            </a:r>
          </a:p>
          <a:p>
            <a:pPr algn="l">
              <a:lnSpc>
                <a:spcPts val="3200"/>
              </a:lnSpc>
              <a:spcBef>
                <a:spcPct val="0"/>
              </a:spcBef>
            </a:pPr>
            <a:r>
              <a:rPr lang="en-US" sz="3200" spc="-96">
                <a:solidFill>
                  <a:srgbClr val="FFFFFF"/>
                </a:solidFill>
                <a:latin typeface="DM Sans"/>
                <a:ea typeface="DM Sans"/>
                <a:cs typeface="DM Sans"/>
                <a:sym typeface="DM Sans"/>
              </a:rPr>
              <a:t> • Change link color</a:t>
            </a:r>
          </a:p>
          <a:p>
            <a:pPr algn="l">
              <a:lnSpc>
                <a:spcPts val="3200"/>
              </a:lnSpc>
              <a:spcBef>
                <a:spcPct val="0"/>
              </a:spcBef>
            </a:pPr>
            <a:r>
              <a:rPr lang="en-US" sz="3200" spc="-96">
                <a:solidFill>
                  <a:srgbClr val="FFFFFF"/>
                </a:solidFill>
                <a:latin typeface="DM Sans"/>
                <a:ea typeface="DM Sans"/>
                <a:cs typeface="DM Sans"/>
                <a:sym typeface="DM Sans"/>
              </a:rPr>
              <a:t>3️⃣ Images</a:t>
            </a:r>
          </a:p>
          <a:p>
            <a:pPr algn="l">
              <a:lnSpc>
                <a:spcPts val="3200"/>
              </a:lnSpc>
              <a:spcBef>
                <a:spcPct val="0"/>
              </a:spcBef>
            </a:pPr>
            <a:r>
              <a:rPr lang="en-US" sz="3200" spc="-96">
                <a:solidFill>
                  <a:srgbClr val="FFFFFF"/>
                </a:solidFill>
                <a:latin typeface="DM Sans"/>
                <a:ea typeface="DM Sans"/>
                <a:cs typeface="DM Sans"/>
                <a:sym typeface="DM Sans"/>
              </a:rPr>
              <a:t> • Add border or padding</a:t>
            </a:r>
          </a:p>
          <a:p>
            <a:pPr algn="l">
              <a:lnSpc>
                <a:spcPts val="3200"/>
              </a:lnSpc>
              <a:spcBef>
                <a:spcPct val="0"/>
              </a:spcBef>
            </a:pPr>
            <a:r>
              <a:rPr lang="en-US" sz="3200" spc="-96">
                <a:solidFill>
                  <a:srgbClr val="FFFFFF"/>
                </a:solidFill>
                <a:latin typeface="DM Sans"/>
                <a:ea typeface="DM Sans"/>
                <a:cs typeface="DM Sans"/>
                <a:sym typeface="DM Sans"/>
              </a:rPr>
              <a:t> • Adjust image size with width or height</a:t>
            </a:r>
          </a:p>
          <a:p>
            <a:pPr algn="l">
              <a:lnSpc>
                <a:spcPts val="3200"/>
              </a:lnSpc>
              <a:spcBef>
                <a:spcPct val="0"/>
              </a:spcBef>
            </a:pPr>
            <a:r>
              <a:rPr lang="en-US" sz="3200" spc="-96">
                <a:solidFill>
                  <a:srgbClr val="FFFFFF"/>
                </a:solidFill>
                <a:latin typeface="DM Sans"/>
                <a:ea typeface="DM Sans"/>
                <a:cs typeface="DM Sans"/>
                <a:sym typeface="DM Sans"/>
              </a:rPr>
              <a:t>4️⃣ Background</a:t>
            </a:r>
          </a:p>
          <a:p>
            <a:pPr algn="l">
              <a:lnSpc>
                <a:spcPts val="3200"/>
              </a:lnSpc>
              <a:spcBef>
                <a:spcPct val="0"/>
              </a:spcBef>
            </a:pPr>
            <a:r>
              <a:rPr lang="en-US" sz="3200" spc="-96">
                <a:solidFill>
                  <a:srgbClr val="FFFFFF"/>
                </a:solidFill>
                <a:latin typeface="DM Sans"/>
                <a:ea typeface="DM Sans"/>
                <a:cs typeface="DM Sans"/>
                <a:sym typeface="DM Sans"/>
              </a:rPr>
              <a:t> • Add a background color to the page or sections</a:t>
            </a:r>
          </a:p>
          <a:p>
            <a:pPr algn="l">
              <a:lnSpc>
                <a:spcPts val="3200"/>
              </a:lnSpc>
              <a:spcBef>
                <a:spcPct val="0"/>
              </a:spcBef>
            </a:pPr>
            <a:r>
              <a:rPr lang="en-US" sz="3200" spc="-96">
                <a:solidFill>
                  <a:srgbClr val="FFFFFF"/>
                </a:solidFill>
                <a:latin typeface="DM Sans"/>
                <a:ea typeface="DM Sans"/>
                <a:cs typeface="DM Sans"/>
                <a:sym typeface="DM Sans"/>
              </a:rPr>
              <a:t> • Optionally, add background color to menu categories</a:t>
            </a:r>
          </a:p>
          <a:p>
            <a:pPr algn="l">
              <a:lnSpc>
                <a:spcPts val="3200"/>
              </a:lnSpc>
              <a:spcBef>
                <a:spcPct val="0"/>
              </a:spcBef>
            </a:pPr>
            <a:r>
              <a:rPr lang="en-US" sz="3200" spc="-96">
                <a:solidFill>
                  <a:srgbClr val="FFFFFF"/>
                </a:solidFill>
                <a:latin typeface="DM Sans"/>
                <a:ea typeface="DM Sans"/>
                <a:cs typeface="DM Sans"/>
                <a:sym typeface="DM Sans"/>
              </a:rPr>
              <a:t>5️⃣ Box Model</a:t>
            </a:r>
          </a:p>
          <a:p>
            <a:pPr algn="l">
              <a:lnSpc>
                <a:spcPts val="3200"/>
              </a:lnSpc>
              <a:spcBef>
                <a:spcPct val="0"/>
              </a:spcBef>
            </a:pPr>
            <a:r>
              <a:rPr lang="en-US" sz="3200" spc="-96">
                <a:solidFill>
                  <a:srgbClr val="FFFFFF"/>
                </a:solidFill>
                <a:latin typeface="DM Sans"/>
                <a:ea typeface="DM Sans"/>
                <a:cs typeface="DM Sans"/>
                <a:sym typeface="DM Sans"/>
              </a:rPr>
              <a:t> • Add margin and padding to sections or elements</a:t>
            </a:r>
          </a:p>
          <a:p>
            <a:pPr algn="l">
              <a:lnSpc>
                <a:spcPts val="3200"/>
              </a:lnSpc>
              <a:spcBef>
                <a:spcPct val="0"/>
              </a:spcBef>
            </a:pPr>
            <a:r>
              <a:rPr lang="en-US" sz="3200" spc="-96">
                <a:solidFill>
                  <a:srgbClr val="FFFFFF"/>
                </a:solidFill>
                <a:latin typeface="DM Sans"/>
                <a:ea typeface="DM Sans"/>
                <a:cs typeface="DM Sans"/>
                <a:sym typeface="DM Sans"/>
              </a:rPr>
              <a:t> • Experiment with borders for menu items</a:t>
            </a:r>
          </a:p>
          <a:p>
            <a:pPr algn="l">
              <a:lnSpc>
                <a:spcPts val="3200"/>
              </a:lnSpc>
              <a:spcBef>
                <a:spcPct val="0"/>
              </a:spcBef>
            </a:pPr>
          </a:p>
          <a:p>
            <a:pPr algn="l">
              <a:lnSpc>
                <a:spcPts val="3200"/>
              </a:lnSpc>
              <a:spcBef>
                <a:spcPct val="0"/>
              </a:spcBef>
            </a:pPr>
          </a:p>
          <a:p>
            <a:pPr algn="l">
              <a:lnSpc>
                <a:spcPts val="3200"/>
              </a:lnSpc>
              <a:spcBef>
                <a:spcPct val="0"/>
              </a:spcBef>
            </a:pPr>
            <a:r>
              <a:rPr lang="en-US" sz="3200" spc="-96">
                <a:solidFill>
                  <a:srgbClr val="FFFFFF"/>
                </a:solidFill>
                <a:latin typeface="DM Sans"/>
                <a:ea typeface="DM Sans"/>
                <a:cs typeface="DM Sans"/>
                <a:sym typeface="DM Sans"/>
              </a:rPr>
              <a:t> Note: Use external CSS file (style.css)</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121212"/>
        </a:solidFill>
      </p:bgPr>
    </p:bg>
    <p:spTree>
      <p:nvGrpSpPr>
        <p:cNvPr id="1" name=""/>
        <p:cNvGrpSpPr/>
        <p:nvPr/>
      </p:nvGrpSpPr>
      <p:grpSpPr>
        <a:xfrm>
          <a:off x="0" y="0"/>
          <a:ext cx="0" cy="0"/>
          <a:chOff x="0" y="0"/>
          <a:chExt cx="0" cy="0"/>
        </a:xfrm>
      </p:grpSpPr>
      <p:sp>
        <p:nvSpPr>
          <p:cNvPr name="TextBox 2" id="2"/>
          <p:cNvSpPr txBox="true"/>
          <p:nvPr/>
        </p:nvSpPr>
        <p:spPr>
          <a:xfrm rot="0">
            <a:off x="666750" y="4194532"/>
            <a:ext cx="16954500" cy="1730374"/>
          </a:xfrm>
          <a:prstGeom prst="rect">
            <a:avLst/>
          </a:prstGeom>
        </p:spPr>
        <p:txBody>
          <a:bodyPr anchor="t" rtlCol="false" tIns="0" lIns="0" bIns="0" rIns="0">
            <a:spAutoFit/>
          </a:bodyPr>
          <a:lstStyle/>
          <a:p>
            <a:pPr algn="ctr" marL="0" indent="0" lvl="0">
              <a:lnSpc>
                <a:spcPts val="12999"/>
              </a:lnSpc>
            </a:pPr>
            <a:r>
              <a:rPr lang="en-US" sz="12999" spc="-389">
                <a:solidFill>
                  <a:srgbClr val="61DAFB"/>
                </a:solidFill>
                <a:latin typeface="DM Sans"/>
                <a:ea typeface="DM Sans"/>
                <a:cs typeface="DM Sans"/>
                <a:sym typeface="DM San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Presentation - CSS Introduction &amp; Styling Basics</dc:description>
  <dc:identifier>DAG_U48BqA0</dc:identifier>
  <dcterms:modified xsi:type="dcterms:W3CDTF">2011-08-01T06:04:30Z</dcterms:modified>
  <cp:revision>1</cp:revision>
  <dc:title>Presentation - CSS Introduction &amp; Styling Basics</dc:title>
</cp:coreProperties>
</file>